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7772400" cy="10058400"/>
  <p:embeddedFontLst>
    <p:embeddedFont>
      <p:font typeface="La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boldItalic r:id="rId1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Font_1_Lato_Regular.fntdata"/><Relationship Id="rId15" Type="http://schemas.openxmlformats.org/officeDocument/2006/relationships/font" Target="fonts/Font_2_Lato_Bold.fntdata"/><Relationship Id="rId16" Type="http://schemas.openxmlformats.org/officeDocument/2006/relationships/font" Target="fonts/Font_3_Lato_Italic.fntdata"/><Relationship Id="rId17" Type="http://schemas.openxmlformats.org/officeDocument/2006/relationships/font" Target="fonts/Font_4_Lato_BoldItalic.fntdata"/><Relationship Id="rId18" Type="http://schemas.openxmlformats.org/officeDocument/2006/relationships/font" Target="fonts/Font_5_Montserrat_Regular.fntdata"/><Relationship Id="rId19" Type="http://schemas.openxmlformats.org/officeDocument/2006/relationships/font" Target="fonts/Font_6_Montserrat_Bold.fntdata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A50726-AFD7-433A-BDA0-185D25F845F1}" type="slidenum">
              <a:t>&lt;#&gt;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06;p11"/>
          <p:cNvGrpSpPr/>
          <p:nvPr/>
        </p:nvGrpSpPr>
        <p:grpSpPr>
          <a:xfrm>
            <a:off x="4406760" y="-360"/>
            <a:ext cx="4736880" cy="5143320"/>
            <a:chOff x="4406760" y="-360"/>
            <a:chExt cx="4736880" cy="5143320"/>
          </a:xfrm>
        </p:grpSpPr>
        <p:sp>
          <p:nvSpPr>
            <p:cNvPr id="14" name="Google Shape;107;p11"/>
            <p:cNvSpPr/>
            <p:nvPr/>
          </p:nvSpPr>
          <p:spPr>
            <a:xfrm rot="5400000">
              <a:off x="4408200" y="-1800"/>
              <a:ext cx="473328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Google Shape;108;p11"/>
            <p:cNvSpPr/>
            <p:nvPr/>
          </p:nvSpPr>
          <p:spPr>
            <a:xfrm rot="5400000">
              <a:off x="4841640" y="5040"/>
              <a:ext cx="429732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109;p11"/>
            <p:cNvSpPr/>
            <p:nvPr/>
          </p:nvSpPr>
          <p:spPr>
            <a:xfrm rot="16200000">
              <a:off x="5618520" y="123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110;p11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111;p11"/>
            <p:cNvSpPr/>
            <p:nvPr/>
          </p:nvSpPr>
          <p:spPr>
            <a:xfrm rot="16200000">
              <a:off x="5987160" y="2469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Google Shape;112;p11"/>
            <p:cNvSpPr/>
            <p:nvPr/>
          </p:nvSpPr>
          <p:spPr>
            <a:xfrm flipH="1">
              <a:off x="6221520" y="267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Google Shape;113;p11"/>
            <p:cNvSpPr/>
            <p:nvPr/>
          </p:nvSpPr>
          <p:spPr>
            <a:xfrm rot="16200000">
              <a:off x="6675480" y="186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Google Shape;114;p11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115;p11"/>
            <p:cNvSpPr/>
            <p:nvPr/>
          </p:nvSpPr>
          <p:spPr>
            <a:xfrm rot="16200000">
              <a:off x="6861240" y="247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116;p11"/>
            <p:cNvSpPr/>
            <p:nvPr/>
          </p:nvSpPr>
          <p:spPr>
            <a:xfrm flipH="1">
              <a:off x="7964640" y="2692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117;p11"/>
            <p:cNvSpPr/>
            <p:nvPr/>
          </p:nvSpPr>
          <p:spPr>
            <a:xfrm flipH="1">
              <a:off x="8144280" y="3308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118;p11"/>
            <p:cNvSpPr/>
            <p:nvPr/>
          </p:nvSpPr>
          <p:spPr>
            <a:xfrm rot="16200000">
              <a:off x="7047720" y="3095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Google Shape;119;p11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Google Shape;120;p11"/>
            <p:cNvSpPr/>
            <p:nvPr/>
          </p:nvSpPr>
          <p:spPr>
            <a:xfrm rot="16200000">
              <a:off x="7227360" y="3711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Google Shape;121;p11"/>
            <p:cNvSpPr/>
            <p:nvPr/>
          </p:nvSpPr>
          <p:spPr>
            <a:xfrm flipH="1">
              <a:off x="7461720" y="391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122;p11"/>
            <p:cNvSpPr/>
            <p:nvPr/>
          </p:nvSpPr>
          <p:spPr>
            <a:xfrm rot="16200000">
              <a:off x="8102520" y="3719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Google Shape;123;p11"/>
            <p:cNvSpPr/>
            <p:nvPr/>
          </p:nvSpPr>
          <p:spPr>
            <a:xfrm flipH="1">
              <a:off x="8333640" y="3925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Google Shape;124;p11"/>
            <p:cNvSpPr/>
            <p:nvPr/>
          </p:nvSpPr>
          <p:spPr>
            <a:xfrm rot="16200000">
              <a:off x="8288280" y="4334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823680" y="1284840"/>
            <a:ext cx="4775400" cy="1299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en-US" sz="80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400" cy="121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97DB1A-A227-455E-B469-5B85E58727F4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20;p3"/>
          <p:cNvGrpSpPr/>
          <p:nvPr/>
        </p:nvGrpSpPr>
        <p:grpSpPr>
          <a:xfrm>
            <a:off x="4406760" y="-360"/>
            <a:ext cx="4736880" cy="5143320"/>
            <a:chOff x="4406760" y="-360"/>
            <a:chExt cx="4736880" cy="5143320"/>
          </a:xfrm>
        </p:grpSpPr>
        <p:sp>
          <p:nvSpPr>
            <p:cNvPr id="36" name="Google Shape;21;p3"/>
            <p:cNvSpPr/>
            <p:nvPr/>
          </p:nvSpPr>
          <p:spPr>
            <a:xfrm rot="5400000">
              <a:off x="4408200" y="-1800"/>
              <a:ext cx="473328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Google Shape;22;p3"/>
            <p:cNvSpPr/>
            <p:nvPr/>
          </p:nvSpPr>
          <p:spPr>
            <a:xfrm rot="5400000">
              <a:off x="4841640" y="5040"/>
              <a:ext cx="429732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23;p3"/>
            <p:cNvSpPr/>
            <p:nvPr/>
          </p:nvSpPr>
          <p:spPr>
            <a:xfrm rot="16200000">
              <a:off x="5618520" y="123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24;p3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Google Shape;25;p3"/>
            <p:cNvSpPr/>
            <p:nvPr/>
          </p:nvSpPr>
          <p:spPr>
            <a:xfrm rot="16200000">
              <a:off x="5987160" y="2469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Google Shape;26;p3"/>
            <p:cNvSpPr/>
            <p:nvPr/>
          </p:nvSpPr>
          <p:spPr>
            <a:xfrm flipH="1">
              <a:off x="6221520" y="267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27;p3"/>
            <p:cNvSpPr/>
            <p:nvPr/>
          </p:nvSpPr>
          <p:spPr>
            <a:xfrm rot="16200000">
              <a:off x="6675480" y="186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28;p3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29;p3"/>
            <p:cNvSpPr/>
            <p:nvPr/>
          </p:nvSpPr>
          <p:spPr>
            <a:xfrm rot="16200000">
              <a:off x="6861240" y="247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30;p3"/>
            <p:cNvSpPr/>
            <p:nvPr/>
          </p:nvSpPr>
          <p:spPr>
            <a:xfrm flipH="1">
              <a:off x="7964640" y="2692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31;p3"/>
            <p:cNvSpPr/>
            <p:nvPr/>
          </p:nvSpPr>
          <p:spPr>
            <a:xfrm flipH="1">
              <a:off x="8144280" y="3308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32;p3"/>
            <p:cNvSpPr/>
            <p:nvPr/>
          </p:nvSpPr>
          <p:spPr>
            <a:xfrm rot="16200000">
              <a:off x="7047720" y="3095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33;p3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34;p3"/>
            <p:cNvSpPr/>
            <p:nvPr/>
          </p:nvSpPr>
          <p:spPr>
            <a:xfrm rot="16200000">
              <a:off x="7227360" y="3711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35;p3"/>
            <p:cNvSpPr/>
            <p:nvPr/>
          </p:nvSpPr>
          <p:spPr>
            <a:xfrm flipH="1">
              <a:off x="7461720" y="391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36;p3"/>
            <p:cNvSpPr/>
            <p:nvPr/>
          </p:nvSpPr>
          <p:spPr>
            <a:xfrm rot="16200000">
              <a:off x="8102520" y="3719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Google Shape;37;p3"/>
            <p:cNvSpPr/>
            <p:nvPr/>
          </p:nvSpPr>
          <p:spPr>
            <a:xfrm flipH="1">
              <a:off x="8333640" y="3925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Google Shape;38;p3"/>
            <p:cNvSpPr/>
            <p:nvPr/>
          </p:nvSpPr>
          <p:spPr>
            <a:xfrm rot="16200000">
              <a:off x="8288280" y="4334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B9204B-7C60-418D-99F6-8DCD14A3B238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70;p8"/>
          <p:cNvGrpSpPr/>
          <p:nvPr/>
        </p:nvGrpSpPr>
        <p:grpSpPr>
          <a:xfrm>
            <a:off x="4406760" y="-360"/>
            <a:ext cx="4736880" cy="5144040"/>
            <a:chOff x="4406760" y="-360"/>
            <a:chExt cx="4736880" cy="5144040"/>
          </a:xfrm>
        </p:grpSpPr>
        <p:sp>
          <p:nvSpPr>
            <p:cNvPr id="57" name="Google Shape;71;p8"/>
            <p:cNvSpPr/>
            <p:nvPr/>
          </p:nvSpPr>
          <p:spPr>
            <a:xfrm rot="5400000">
              <a:off x="4407840" y="-1440"/>
              <a:ext cx="473400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Google Shape;72;p8"/>
            <p:cNvSpPr/>
            <p:nvPr/>
          </p:nvSpPr>
          <p:spPr>
            <a:xfrm rot="5400000">
              <a:off x="4841280" y="5400"/>
              <a:ext cx="429804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73;p8"/>
            <p:cNvSpPr/>
            <p:nvPr/>
          </p:nvSpPr>
          <p:spPr>
            <a:xfrm rot="16200000">
              <a:off x="5618520" y="1237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Google Shape;74;p8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Google Shape;75;p8"/>
            <p:cNvSpPr/>
            <p:nvPr/>
          </p:nvSpPr>
          <p:spPr>
            <a:xfrm rot="16200000">
              <a:off x="5987160" y="2470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Google Shape;76;p8"/>
            <p:cNvSpPr/>
            <p:nvPr/>
          </p:nvSpPr>
          <p:spPr>
            <a:xfrm flipH="1">
              <a:off x="6221520" y="2677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Google Shape;77;p8"/>
            <p:cNvSpPr/>
            <p:nvPr/>
          </p:nvSpPr>
          <p:spPr>
            <a:xfrm rot="16200000">
              <a:off x="6675480" y="18630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78;p8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Google Shape;79;p8"/>
            <p:cNvSpPr/>
            <p:nvPr/>
          </p:nvSpPr>
          <p:spPr>
            <a:xfrm rot="16200000">
              <a:off x="6861240" y="247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Google Shape;80;p8"/>
            <p:cNvSpPr/>
            <p:nvPr/>
          </p:nvSpPr>
          <p:spPr>
            <a:xfrm flipH="1">
              <a:off x="7964640" y="2693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Google Shape;81;p8"/>
            <p:cNvSpPr/>
            <p:nvPr/>
          </p:nvSpPr>
          <p:spPr>
            <a:xfrm flipH="1">
              <a:off x="8144280" y="33091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Google Shape;82;p8"/>
            <p:cNvSpPr/>
            <p:nvPr/>
          </p:nvSpPr>
          <p:spPr>
            <a:xfrm rot="16200000">
              <a:off x="7047720" y="30960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Google Shape;83;p8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Google Shape;84;p8"/>
            <p:cNvSpPr/>
            <p:nvPr/>
          </p:nvSpPr>
          <p:spPr>
            <a:xfrm rot="16200000">
              <a:off x="7227360" y="3711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Google Shape;85;p8"/>
            <p:cNvSpPr/>
            <p:nvPr/>
          </p:nvSpPr>
          <p:spPr>
            <a:xfrm flipH="1">
              <a:off x="7461720" y="391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Google Shape;86;p8"/>
            <p:cNvSpPr/>
            <p:nvPr/>
          </p:nvSpPr>
          <p:spPr>
            <a:xfrm rot="16200000">
              <a:off x="8102520" y="37195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Google Shape;87;p8"/>
            <p:cNvSpPr/>
            <p:nvPr/>
          </p:nvSpPr>
          <p:spPr>
            <a:xfrm flipH="1">
              <a:off x="8333640" y="3926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Google Shape;88;p8"/>
            <p:cNvSpPr/>
            <p:nvPr/>
          </p:nvSpPr>
          <p:spPr>
            <a:xfrm rot="16200000">
              <a:off x="8288280" y="433548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400" cy="352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DDE0F9-FB40-4833-BE30-E2FC8857BD5B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6BFD91-B754-48A3-9B1D-8298D6DA05D2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79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534429-19D8-4E2A-8725-1971DAE25F58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85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2BECA9-DA06-4B1C-9149-8F45141DCCE2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85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1727DB-3579-49D8-9094-1090DED0E907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49;p5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95" name="Google Shape;50;p5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51;p5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6F2E05-2368-4A34-8B71-3DD69D08F0A7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57;p6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02" name="Google Shape;58;p6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59;p6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FB41B5-42B6-4624-AD50-EEADE5B84722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63;p7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07" name="Google Shape;64;p7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65;p7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360" cy="149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360" cy="241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FDC7FD-7C0B-459F-90A9-EDC905B3B8C8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92;p9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13" name="Google Shape;93;p9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94;p9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520" cy="175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5960" cy="234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39166C-4840-4C73-89FE-DD80DAAB94FB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00;p10"/>
          <p:cNvGrpSpPr/>
          <p:nvPr/>
        </p:nvGrpSpPr>
        <p:grpSpPr>
          <a:xfrm>
            <a:off x="0" y="4129560"/>
            <a:ext cx="697680" cy="682920"/>
            <a:chOff x="0" y="4129560"/>
            <a:chExt cx="697680" cy="682920"/>
          </a:xfrm>
        </p:grpSpPr>
        <p:sp>
          <p:nvSpPr>
            <p:cNvPr id="119" name="Google Shape;101;p10"/>
            <p:cNvSpPr/>
            <p:nvPr/>
          </p:nvSpPr>
          <p:spPr>
            <a:xfrm rot="16200000">
              <a:off x="0" y="4129560"/>
              <a:ext cx="543960" cy="54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Google Shape;102;p10"/>
            <p:cNvSpPr/>
            <p:nvPr/>
          </p:nvSpPr>
          <p:spPr>
            <a:xfrm flipH="1">
              <a:off x="153360" y="4268520"/>
              <a:ext cx="543960" cy="54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400" cy="52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2B6DB8-DC2D-4DDE-81CE-EFA044F8DEBE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/>
          <p:nvPr/>
        </p:nvSpPr>
        <p:spPr>
          <a:xfrm rot="5400000">
            <a:off x="7500960" y="0"/>
            <a:ext cx="1643040" cy="164304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760" y="-7920"/>
            <a:ext cx="5137920" cy="5151960"/>
            <a:chOff x="5760" y="-7920"/>
            <a:chExt cx="5137920" cy="5151960"/>
          </a:xfrm>
        </p:grpSpPr>
        <p:sp>
          <p:nvSpPr>
            <p:cNvPr id="4" name="Google Shape;12;p2"/>
            <p:cNvSpPr/>
            <p:nvPr/>
          </p:nvSpPr>
          <p:spPr>
            <a:xfrm rot="16200000">
              <a:off x="360" y="720"/>
              <a:ext cx="5151960" cy="513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6200000">
              <a:off x="0" y="1142640"/>
              <a:ext cx="3996000" cy="398196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16200000">
              <a:off x="1800" y="1080"/>
              <a:ext cx="2298960" cy="22910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flipH="1">
              <a:off x="651960" y="588240"/>
              <a:ext cx="2299320" cy="229068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97440" y="545400"/>
            <a:ext cx="703836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34FA4B-A1FB-4ECC-A168-F4DA2986455F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6960" cy="157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Библиотека pandas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70040" cy="50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pandas</a:t>
            </a: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Pandas-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это мощная библиотека Python для анализа и обработки данных. Она предоставляет высокоуровневые структуры данных и инструменты для эффективной работы с табличными данными, временными рядами и другими структурами. В контексте машинного обучения Pandas незаменима для предварительной обработки данных, очистки и подготовки датасетов.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dataFrame -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Двумерная таблица с помеченными осями (строками и столбцами)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Series –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одномерный массив, можете представить себе его как отдельный столбец или ряд из таблицы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Возможный функционал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При помощи </a:t>
            </a: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pandas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можно</a:t>
            </a: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-считывать информацию из файлов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-Фильтровать таблицу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-Заполнять пустые параметры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-Модифицировать данные в таблице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import pandas as pd # Импортируем библиотеку Pandas.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city = {'Город': ['Москва', 'Санкт-Петербург', 'Новосибирск', 'Екатеринбург'],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'Год основания': [1147, 1703, 1893, 1723],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'Население': [11.9, 4.9, 1.5, 1.4]} # Создаём словарь с нужной информацией о городах.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 = pd.DataFrame(city) # Превращаем словарь в DataFrame, используя стандартный метод библиотеки.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 # Выводим DataFrame на экран.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Считывание данных из excel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f = pd.read_csv('file.csv',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         sep=',',           # разделитель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         encoding='utf-8',  # кодировка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         header=0,          # строка заголовков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         index_col=0,       # столбец как индекс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         na_values=['NA', 'null'])  # значения NaN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f= pd.read_excel('tmp.xlsx', index_col=0) 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Основные методы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297440" y="1177920"/>
            <a:ext cx="7038360" cy="3965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df.head()        # первые 5 строк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df.tail()        # последние 5 строк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df.sample(5)     # случайные 5 строк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df.info()        # информация о датафрейме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df.describe()    # статистика числовых колонок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df.shape         # размерность (строки, столбцы)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df.columns       # названия колонок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df.dtypes        # типы данных колонок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df.isnull().sum()  # количество пропусков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df.value_counts()        # частотный анализ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df.corr()               # корреляционная матрица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df.duplicated().sum()   # количество дубликатов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df.nunique()            # количество уникальных значений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Получение данных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df['column_name']          # выбор колонки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df[['col1', 'col2']]       # выбор нескольких колонок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df.loc[0]                  # выбор строки по индексу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df.iloc[0]                 # выбор строки по позиции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df.query('column &gt; 100')   # фильтрация по условию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Изменение данных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df.dropna()               # удаление строк с NaN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df.fillna(value)          # заполнение NaN значением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df.rename(columns={'old':'new'})  # переименование колонок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df.drop(columns=['col1'])         # удаление колонок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df.drop(index=[0, 1])             # удаление строк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df.assign(new_col=df['col']*2)    # добавление новой колонки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Application>LibreOffice/26.8.1.1$Linux_X86_64 LibreOffice_project/bf6ef2662401c7d6dce671ab4deb26ee0af3a7c1</Application>
  <AppVersion>15.0000</AppVersion>
  <Words>673</Words>
  <Paragraphs>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2026-10-09T17:46:49Z</dcterms:modified>
  <cp:revision>9</cp:revision>
  <dc:subject/>
  <dc:title>Установка и работа с пакетами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