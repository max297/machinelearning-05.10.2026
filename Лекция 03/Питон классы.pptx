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0" r:id="rId3"/>
    <p:sldMasterId id="214748365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/>
  <p:notesSz cx="7772400" cy="10058400"/>
  <p:embeddedFontLst>
    <p:embeddedFont>
      <p:font typeface="Roboto Mono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font" Target="fonts/Font_1_Roboto_Mono_Regular.fntdata"/><Relationship Id="rId14" Type="http://schemas.openxmlformats.org/officeDocument/2006/relationships/font" Target="fonts/Font_2_Roboto_Mono_Bold.fntdata"/><Relationship Id="rId15" Type="http://schemas.openxmlformats.org/officeDocument/2006/relationships/font" Target="fonts/Font_3_Roboto_Mono_Italic.fntdata"/><Relationship Id="rId16" Type="http://schemas.openxmlformats.org/officeDocument/2006/relationships/font" Target="fonts/Font_4_Roboto_Mono_BoldItalic.fntdata"/><Relationship Id="rId17" Type="http://schemas.openxmlformats.org/officeDocument/2006/relationships/font" Target="fonts/Font_5_Lato_Regular.fntdata"/><Relationship Id="rId18" Type="http://schemas.openxmlformats.org/officeDocument/2006/relationships/font" Target="fonts/Font_6_Lato_Bold.fntdata"/><Relationship Id="rId19" Type="http://schemas.openxmlformats.org/officeDocument/2006/relationships/font" Target="fonts/Font_7_Lato_Italic.fntdata"/><Relationship Id="rId20" Type="http://schemas.openxmlformats.org/officeDocument/2006/relationships/font" Target="fonts/Font_8_Lato_BoldItalic.fntdata"/><Relationship Id="rId21" Type="http://schemas.openxmlformats.org/officeDocument/2006/relationships/font" Target="fonts/Font_9_Montserrat_Regular.fntdata"/><Relationship Id="rId22" Type="http://schemas.openxmlformats.org/officeDocument/2006/relationships/font" Target="fonts/Font_10_Montserrat_Bold.fntdata"/><Relationship Id="rId23" Type="http://schemas.openxmlformats.org/officeDocument/2006/relationships/font" Target="fonts/Font_11_Montserrat_Italic.fntdata"/><Relationship Id="rId24" Type="http://schemas.openxmlformats.org/officeDocument/2006/relationships/font" Target="fonts/Font_12_Montserrat_BoldItalic.fntdata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A968FA3-A09E-4505-AC9C-2FB54216ECBB}" type="slidenum">
              <a:t>&lt;#&gt;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06;p11"/>
          <p:cNvGrpSpPr/>
          <p:nvPr/>
        </p:nvGrpSpPr>
        <p:grpSpPr>
          <a:xfrm>
            <a:off x="4406760" y="-360"/>
            <a:ext cx="4736880" cy="5143320"/>
            <a:chOff x="4406760" y="-360"/>
            <a:chExt cx="4736880" cy="5143320"/>
          </a:xfrm>
        </p:grpSpPr>
        <p:sp>
          <p:nvSpPr>
            <p:cNvPr id="14" name="Google Shape;107;p11"/>
            <p:cNvSpPr/>
            <p:nvPr/>
          </p:nvSpPr>
          <p:spPr>
            <a:xfrm rot="5400000">
              <a:off x="4408200" y="-1800"/>
              <a:ext cx="4733280" cy="473688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Google Shape;108;p11"/>
            <p:cNvSpPr/>
            <p:nvPr/>
          </p:nvSpPr>
          <p:spPr>
            <a:xfrm rot="5400000">
              <a:off x="4841640" y="5040"/>
              <a:ext cx="4297320" cy="428616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Google Shape;109;p11"/>
            <p:cNvSpPr/>
            <p:nvPr/>
          </p:nvSpPr>
          <p:spPr>
            <a:xfrm rot="16200000">
              <a:off x="5618520" y="123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Google Shape;110;p11"/>
            <p:cNvSpPr/>
            <p:nvPr/>
          </p:nvSpPr>
          <p:spPr>
            <a:xfrm flipH="1">
              <a:off x="5849280" y="1443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Google Shape;111;p11"/>
            <p:cNvSpPr/>
            <p:nvPr/>
          </p:nvSpPr>
          <p:spPr>
            <a:xfrm rot="16200000">
              <a:off x="5987160" y="2469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Google Shape;112;p11"/>
            <p:cNvSpPr/>
            <p:nvPr/>
          </p:nvSpPr>
          <p:spPr>
            <a:xfrm flipH="1">
              <a:off x="6221520" y="267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Google Shape;113;p11"/>
            <p:cNvSpPr/>
            <p:nvPr/>
          </p:nvSpPr>
          <p:spPr>
            <a:xfrm rot="16200000">
              <a:off x="6675480" y="186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Google Shape;114;p11"/>
            <p:cNvSpPr/>
            <p:nvPr/>
          </p:nvSpPr>
          <p:spPr>
            <a:xfrm flipH="1">
              <a:off x="6907320" y="2069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Google Shape;115;p11"/>
            <p:cNvSpPr/>
            <p:nvPr/>
          </p:nvSpPr>
          <p:spPr>
            <a:xfrm rot="16200000">
              <a:off x="6861240" y="247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Google Shape;116;p11"/>
            <p:cNvSpPr/>
            <p:nvPr/>
          </p:nvSpPr>
          <p:spPr>
            <a:xfrm flipH="1">
              <a:off x="7964640" y="2692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Google Shape;117;p11"/>
            <p:cNvSpPr/>
            <p:nvPr/>
          </p:nvSpPr>
          <p:spPr>
            <a:xfrm flipH="1">
              <a:off x="8144280" y="3308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Google Shape;118;p11"/>
            <p:cNvSpPr/>
            <p:nvPr/>
          </p:nvSpPr>
          <p:spPr>
            <a:xfrm rot="16200000">
              <a:off x="7047720" y="3095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Google Shape;119;p11"/>
            <p:cNvSpPr/>
            <p:nvPr/>
          </p:nvSpPr>
          <p:spPr>
            <a:xfrm flipH="1">
              <a:off x="7275960" y="330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Google Shape;120;p11"/>
            <p:cNvSpPr/>
            <p:nvPr/>
          </p:nvSpPr>
          <p:spPr>
            <a:xfrm rot="16200000">
              <a:off x="7227360" y="3711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Google Shape;121;p11"/>
            <p:cNvSpPr/>
            <p:nvPr/>
          </p:nvSpPr>
          <p:spPr>
            <a:xfrm flipH="1">
              <a:off x="7461720" y="391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Google Shape;122;p11"/>
            <p:cNvSpPr/>
            <p:nvPr/>
          </p:nvSpPr>
          <p:spPr>
            <a:xfrm rot="16200000">
              <a:off x="8102520" y="3719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Google Shape;123;p11"/>
            <p:cNvSpPr/>
            <p:nvPr/>
          </p:nvSpPr>
          <p:spPr>
            <a:xfrm flipH="1">
              <a:off x="8333640" y="3925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Google Shape;124;p11"/>
            <p:cNvSpPr/>
            <p:nvPr/>
          </p:nvSpPr>
          <p:spPr>
            <a:xfrm rot="16200000">
              <a:off x="8288280" y="4334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" name="PlaceHolder 1"/>
          <p:cNvSpPr>
            <a:spLocks noGrp="1"/>
          </p:cNvSpPr>
          <p:nvPr>
            <p:ph type="title" hasCustomPrompt="1"/>
          </p:nvPr>
        </p:nvSpPr>
        <p:spPr>
          <a:xfrm>
            <a:off x="823680" y="1284840"/>
            <a:ext cx="4775400" cy="1299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en-US" sz="80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23680" y="2643120"/>
            <a:ext cx="4775400" cy="121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2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A2710C-9FFC-4E7A-BAD1-DF46244C9E42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20;p3"/>
          <p:cNvGrpSpPr/>
          <p:nvPr/>
        </p:nvGrpSpPr>
        <p:grpSpPr>
          <a:xfrm>
            <a:off x="4406760" y="-360"/>
            <a:ext cx="4736880" cy="5143320"/>
            <a:chOff x="4406760" y="-360"/>
            <a:chExt cx="4736880" cy="5143320"/>
          </a:xfrm>
        </p:grpSpPr>
        <p:sp>
          <p:nvSpPr>
            <p:cNvPr id="36" name="Google Shape;21;p3"/>
            <p:cNvSpPr/>
            <p:nvPr/>
          </p:nvSpPr>
          <p:spPr>
            <a:xfrm rot="5400000">
              <a:off x="4408200" y="-1800"/>
              <a:ext cx="4733280" cy="473688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Google Shape;22;p3"/>
            <p:cNvSpPr/>
            <p:nvPr/>
          </p:nvSpPr>
          <p:spPr>
            <a:xfrm rot="5400000">
              <a:off x="4841640" y="5040"/>
              <a:ext cx="4297320" cy="428616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Google Shape;23;p3"/>
            <p:cNvSpPr/>
            <p:nvPr/>
          </p:nvSpPr>
          <p:spPr>
            <a:xfrm rot="16200000">
              <a:off x="5618520" y="123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Google Shape;24;p3"/>
            <p:cNvSpPr/>
            <p:nvPr/>
          </p:nvSpPr>
          <p:spPr>
            <a:xfrm flipH="1">
              <a:off x="5849280" y="1443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Google Shape;25;p3"/>
            <p:cNvSpPr/>
            <p:nvPr/>
          </p:nvSpPr>
          <p:spPr>
            <a:xfrm rot="16200000">
              <a:off x="5987160" y="2469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Google Shape;26;p3"/>
            <p:cNvSpPr/>
            <p:nvPr/>
          </p:nvSpPr>
          <p:spPr>
            <a:xfrm flipH="1">
              <a:off x="6221520" y="2676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Google Shape;27;p3"/>
            <p:cNvSpPr/>
            <p:nvPr/>
          </p:nvSpPr>
          <p:spPr>
            <a:xfrm rot="16200000">
              <a:off x="6675480" y="186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Google Shape;28;p3"/>
            <p:cNvSpPr/>
            <p:nvPr/>
          </p:nvSpPr>
          <p:spPr>
            <a:xfrm flipH="1">
              <a:off x="6907320" y="2069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Google Shape;29;p3"/>
            <p:cNvSpPr/>
            <p:nvPr/>
          </p:nvSpPr>
          <p:spPr>
            <a:xfrm rot="16200000">
              <a:off x="6861240" y="247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Google Shape;30;p3"/>
            <p:cNvSpPr/>
            <p:nvPr/>
          </p:nvSpPr>
          <p:spPr>
            <a:xfrm flipH="1">
              <a:off x="7964640" y="2692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Google Shape;31;p3"/>
            <p:cNvSpPr/>
            <p:nvPr/>
          </p:nvSpPr>
          <p:spPr>
            <a:xfrm flipH="1">
              <a:off x="8144280" y="3308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Google Shape;32;p3"/>
            <p:cNvSpPr/>
            <p:nvPr/>
          </p:nvSpPr>
          <p:spPr>
            <a:xfrm rot="16200000">
              <a:off x="7047720" y="3095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Google Shape;33;p3"/>
            <p:cNvSpPr/>
            <p:nvPr/>
          </p:nvSpPr>
          <p:spPr>
            <a:xfrm flipH="1">
              <a:off x="7275960" y="330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Google Shape;34;p3"/>
            <p:cNvSpPr/>
            <p:nvPr/>
          </p:nvSpPr>
          <p:spPr>
            <a:xfrm rot="16200000">
              <a:off x="7227360" y="3711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Google Shape;35;p3"/>
            <p:cNvSpPr/>
            <p:nvPr/>
          </p:nvSpPr>
          <p:spPr>
            <a:xfrm flipH="1">
              <a:off x="7461720" y="39182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Google Shape;36;p3"/>
            <p:cNvSpPr/>
            <p:nvPr/>
          </p:nvSpPr>
          <p:spPr>
            <a:xfrm rot="16200000">
              <a:off x="8102520" y="3719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Google Shape;37;p3"/>
            <p:cNvSpPr/>
            <p:nvPr/>
          </p:nvSpPr>
          <p:spPr>
            <a:xfrm flipH="1">
              <a:off x="8333640" y="39258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Google Shape;38;p3"/>
            <p:cNvSpPr/>
            <p:nvPr/>
          </p:nvSpPr>
          <p:spPr>
            <a:xfrm rot="16200000">
              <a:off x="8288280" y="43347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400" cy="114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451D2A-88CE-4956-9829-858B8018C840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70;p8"/>
          <p:cNvGrpSpPr/>
          <p:nvPr/>
        </p:nvGrpSpPr>
        <p:grpSpPr>
          <a:xfrm>
            <a:off x="4406760" y="-360"/>
            <a:ext cx="4736880" cy="5144040"/>
            <a:chOff x="4406760" y="-360"/>
            <a:chExt cx="4736880" cy="5144040"/>
          </a:xfrm>
        </p:grpSpPr>
        <p:sp>
          <p:nvSpPr>
            <p:cNvPr id="57" name="Google Shape;71;p8"/>
            <p:cNvSpPr/>
            <p:nvPr/>
          </p:nvSpPr>
          <p:spPr>
            <a:xfrm rot="5400000">
              <a:off x="4407840" y="-1440"/>
              <a:ext cx="4734000" cy="473688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Google Shape;72;p8"/>
            <p:cNvSpPr/>
            <p:nvPr/>
          </p:nvSpPr>
          <p:spPr>
            <a:xfrm rot="5400000">
              <a:off x="4841280" y="5400"/>
              <a:ext cx="4298040" cy="428616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Google Shape;73;p8"/>
            <p:cNvSpPr/>
            <p:nvPr/>
          </p:nvSpPr>
          <p:spPr>
            <a:xfrm rot="16200000">
              <a:off x="5618520" y="12373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Google Shape;74;p8"/>
            <p:cNvSpPr/>
            <p:nvPr/>
          </p:nvSpPr>
          <p:spPr>
            <a:xfrm flipH="1">
              <a:off x="5849280" y="1443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Google Shape;75;p8"/>
            <p:cNvSpPr/>
            <p:nvPr/>
          </p:nvSpPr>
          <p:spPr>
            <a:xfrm rot="16200000">
              <a:off x="5987160" y="24703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Google Shape;76;p8"/>
            <p:cNvSpPr/>
            <p:nvPr/>
          </p:nvSpPr>
          <p:spPr>
            <a:xfrm flipH="1">
              <a:off x="6221520" y="26773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Google Shape;77;p8"/>
            <p:cNvSpPr/>
            <p:nvPr/>
          </p:nvSpPr>
          <p:spPr>
            <a:xfrm rot="16200000">
              <a:off x="6675480" y="18630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Google Shape;78;p8"/>
            <p:cNvSpPr/>
            <p:nvPr/>
          </p:nvSpPr>
          <p:spPr>
            <a:xfrm flipH="1">
              <a:off x="6907320" y="2069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Google Shape;79;p8"/>
            <p:cNvSpPr/>
            <p:nvPr/>
          </p:nvSpPr>
          <p:spPr>
            <a:xfrm rot="16200000">
              <a:off x="6861240" y="247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Google Shape;80;p8"/>
            <p:cNvSpPr/>
            <p:nvPr/>
          </p:nvSpPr>
          <p:spPr>
            <a:xfrm flipH="1">
              <a:off x="7964640" y="2693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Google Shape;81;p8"/>
            <p:cNvSpPr/>
            <p:nvPr/>
          </p:nvSpPr>
          <p:spPr>
            <a:xfrm flipH="1">
              <a:off x="8144280" y="33091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Google Shape;82;p8"/>
            <p:cNvSpPr/>
            <p:nvPr/>
          </p:nvSpPr>
          <p:spPr>
            <a:xfrm rot="16200000">
              <a:off x="7047720" y="30960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Google Shape;83;p8"/>
            <p:cNvSpPr/>
            <p:nvPr/>
          </p:nvSpPr>
          <p:spPr>
            <a:xfrm flipH="1">
              <a:off x="7275960" y="330264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Google Shape;84;p8"/>
            <p:cNvSpPr/>
            <p:nvPr/>
          </p:nvSpPr>
          <p:spPr>
            <a:xfrm rot="16200000">
              <a:off x="7227360" y="37119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Google Shape;85;p8"/>
            <p:cNvSpPr/>
            <p:nvPr/>
          </p:nvSpPr>
          <p:spPr>
            <a:xfrm flipH="1">
              <a:off x="7461720" y="391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Google Shape;86;p8"/>
            <p:cNvSpPr/>
            <p:nvPr/>
          </p:nvSpPr>
          <p:spPr>
            <a:xfrm rot="16200000">
              <a:off x="8102520" y="371952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Google Shape;87;p8"/>
            <p:cNvSpPr/>
            <p:nvPr/>
          </p:nvSpPr>
          <p:spPr>
            <a:xfrm flipH="1">
              <a:off x="8333640" y="392616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Google Shape;88;p8"/>
            <p:cNvSpPr/>
            <p:nvPr/>
          </p:nvSpPr>
          <p:spPr>
            <a:xfrm rot="16200000">
              <a:off x="8288280" y="433548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23680" y="866880"/>
            <a:ext cx="4586400" cy="3520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8EDCA85-66DA-42E8-B019-6888DD6FDA87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3AEDE3-45D9-4B3E-9C40-8A6FA5A0EBFA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BOD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42;p4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79" name="Google Shape;43;p4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Google Shape;44;p4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F8F03E-C0EB-47E0-AB6A-5E63BA60BD08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42;p4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85" name="Google Shape;43;p4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Google Shape;44;p4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47A9B5C-D1DD-4598-A617-1CB51B2020A0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42;p4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85" name="Google Shape;43;p4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Google Shape;44;p4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B9A8FB-B339-4440-8F66-8ACB5D8D26D0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49;p5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95" name="Google Shape;50;p5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Google Shape;51;p5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02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933080" y="1567440"/>
            <a:ext cx="3402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229CEFA-4E2F-4756-BA78-022CC50AB09A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57;p6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102" name="Google Shape;58;p6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Google Shape;59;p6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50C4CB7-FC2E-401E-BA3E-2DAAD1E12AD5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63;p7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107" name="Google Shape;64;p7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Google Shape;65;p7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3798360" cy="1492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1297440" y="1972440"/>
            <a:ext cx="3798360" cy="2415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1A9BC01-7D55-4FEB-BDEB-F93193535BCC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92;p9"/>
          <p:cNvGrpSpPr/>
          <p:nvPr/>
        </p:nvGrpSpPr>
        <p:grpSpPr>
          <a:xfrm>
            <a:off x="0" y="381600"/>
            <a:ext cx="1036800" cy="1015200"/>
            <a:chOff x="0" y="381600"/>
            <a:chExt cx="1036800" cy="1015200"/>
          </a:xfrm>
        </p:grpSpPr>
        <p:sp>
          <p:nvSpPr>
            <p:cNvPr id="113" name="Google Shape;93;p9"/>
            <p:cNvSpPr/>
            <p:nvPr/>
          </p:nvSpPr>
          <p:spPr>
            <a:xfrm rot="16200000">
              <a:off x="0" y="381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Google Shape;94;p9"/>
            <p:cNvSpPr/>
            <p:nvPr/>
          </p:nvSpPr>
          <p:spPr>
            <a:xfrm flipH="1">
              <a:off x="228240" y="588600"/>
              <a:ext cx="808200" cy="8082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97440" y="1658160"/>
            <a:ext cx="3035520" cy="175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4648320" y="1696680"/>
            <a:ext cx="3675960" cy="234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8343045-E031-42B1-B96A-04FA2299745D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00;p10"/>
          <p:cNvGrpSpPr/>
          <p:nvPr/>
        </p:nvGrpSpPr>
        <p:grpSpPr>
          <a:xfrm>
            <a:off x="0" y="4129560"/>
            <a:ext cx="697680" cy="682920"/>
            <a:chOff x="0" y="4129560"/>
            <a:chExt cx="697680" cy="682920"/>
          </a:xfrm>
        </p:grpSpPr>
        <p:sp>
          <p:nvSpPr>
            <p:cNvPr id="119" name="Google Shape;101;p10"/>
            <p:cNvSpPr/>
            <p:nvPr/>
          </p:nvSpPr>
          <p:spPr>
            <a:xfrm rot="16200000">
              <a:off x="0" y="4129560"/>
              <a:ext cx="543960" cy="5439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Google Shape;102;p10"/>
            <p:cNvSpPr/>
            <p:nvPr/>
          </p:nvSpPr>
          <p:spPr>
            <a:xfrm flipH="1">
              <a:off x="153360" y="4268520"/>
              <a:ext cx="543960" cy="5439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" name="PlaceHolder 1"/>
          <p:cNvSpPr>
            <a:spLocks noGrp="1"/>
          </p:cNvSpPr>
          <p:nvPr>
            <p:ph type="body"/>
          </p:nvPr>
        </p:nvSpPr>
        <p:spPr>
          <a:xfrm>
            <a:off x="812880" y="4305240"/>
            <a:ext cx="6935400" cy="52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72149DF-72CF-46FB-99C7-5699F006349F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/>
          <p:nvPr/>
        </p:nvSpPr>
        <p:spPr>
          <a:xfrm rot="5400000">
            <a:off x="7500960" y="0"/>
            <a:ext cx="1643040" cy="164304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1440" rIns="9000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5760" y="-7920"/>
            <a:ext cx="5137920" cy="5151960"/>
            <a:chOff x="5760" y="-7920"/>
            <a:chExt cx="5137920" cy="5151960"/>
          </a:xfrm>
        </p:grpSpPr>
        <p:sp>
          <p:nvSpPr>
            <p:cNvPr id="4" name="Google Shape;12;p2"/>
            <p:cNvSpPr/>
            <p:nvPr/>
          </p:nvSpPr>
          <p:spPr>
            <a:xfrm rot="16200000">
              <a:off x="360" y="720"/>
              <a:ext cx="5151960" cy="513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16200000">
              <a:off x="0" y="1142640"/>
              <a:ext cx="3996000" cy="398196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Google Shape;14;p2"/>
            <p:cNvSpPr/>
            <p:nvPr/>
          </p:nvSpPr>
          <p:spPr>
            <a:xfrm rot="16200000">
              <a:off x="1800" y="1080"/>
              <a:ext cx="2298960" cy="229104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Google Shape;15;p2"/>
            <p:cNvSpPr/>
            <p:nvPr/>
          </p:nvSpPr>
          <p:spPr>
            <a:xfrm flipH="1">
              <a:off x="651960" y="588240"/>
              <a:ext cx="2299320" cy="229068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91440" rIns="9000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297440" y="545400"/>
            <a:ext cx="7038360" cy="6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03E91BE-543F-4FC5-80AB-C5EDE1C684E9}" type="slidenum">
              <a:rPr lang="ru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pypi.org/" TargetMode="External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6960" cy="1578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4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python классы</a:t>
            </a:r>
            <a:r>
              <a:rPr lang="en-US" sz="4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ru-RU" sz="4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и библиотеки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5083920" y="3925080"/>
            <a:ext cx="3470040" cy="50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ctr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Класс — это шаблон, по которому создаются объекты.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Объект — это экземпляр класса, содержащий данные и методы для работы с этими данными.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3399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Конструктор-метод, который автоматически вызывается при создании объектов. Его также можно назвать конструктором объектов класса.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900" b="0" u="none" strike="noStrike">
                <a:solidFill>
                  <a:srgbClr val="188038"/>
                </a:solidFill>
                <a:effectLst/>
                <a:uFillTx/>
                <a:latin typeface="Roboto Mono"/>
                <a:ea typeface="Roboto Mono"/>
              </a:rPr>
              <a:t>class</a:t>
            </a:r>
            <a:r>
              <a:rPr lang="ru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" sz="1900" b="0" u="none" strike="noStrike">
                <a:solidFill>
                  <a:srgbClr val="188038"/>
                </a:solidFill>
                <a:effectLst/>
                <a:uFillTx/>
                <a:latin typeface="Roboto Mono"/>
                <a:ea typeface="Roboto Mono"/>
              </a:rPr>
              <a:t>Person: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" sz="1900" b="0" u="none" strike="noStrike">
                <a:solidFill>
                  <a:srgbClr val="188038"/>
                </a:solidFill>
                <a:effectLst/>
                <a:uFillTx/>
                <a:latin typeface="Roboto Mono"/>
                <a:ea typeface="Roboto Mono"/>
              </a:rPr>
              <a:t>    def</a:t>
            </a:r>
            <a:r>
              <a:rPr lang="ru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" sz="1900" b="0" u="none" strike="noStrike">
                <a:solidFill>
                  <a:srgbClr val="188038"/>
                </a:solidFill>
                <a:effectLst/>
                <a:uFillTx/>
                <a:latin typeface="Roboto Mono"/>
                <a:ea typeface="Roboto Mono"/>
              </a:rPr>
              <a:t>__init__(self, name, age):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900" b="0" u="none" strike="noStrike">
                <a:solidFill>
                  <a:srgbClr val="188038"/>
                </a:solidFill>
                <a:effectLst/>
                <a:uFillTx/>
                <a:latin typeface="Roboto Mono"/>
                <a:ea typeface="Roboto Mono"/>
              </a:rPr>
              <a:t>        self.name =</a:t>
            </a:r>
            <a:r>
              <a:rPr lang="ru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" sz="1900" b="0" u="none" strike="noStrike">
                <a:solidFill>
                  <a:srgbClr val="188038"/>
                </a:solidFill>
                <a:effectLst/>
                <a:uFillTx/>
                <a:latin typeface="Roboto Mono"/>
                <a:ea typeface="Roboto Mono"/>
              </a:rPr>
              <a:t>name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900" b="0" u="none" strike="noStrike">
                <a:solidFill>
                  <a:srgbClr val="188038"/>
                </a:solidFill>
                <a:effectLst/>
                <a:uFillTx/>
                <a:latin typeface="Roboto Mono"/>
                <a:ea typeface="Roboto Mono"/>
              </a:rPr>
              <a:t>        self.age =</a:t>
            </a:r>
            <a:r>
              <a:rPr lang="ru" sz="1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" sz="1900" b="0" u="none" strike="noStrike">
                <a:solidFill>
                  <a:srgbClr val="188038"/>
                </a:solidFill>
                <a:effectLst/>
                <a:uFillTx/>
                <a:latin typeface="Roboto Mono"/>
                <a:ea typeface="Roboto Mono"/>
              </a:rPr>
              <a:t>age 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900" b="0" u="none" strike="noStrike">
                <a:solidFill>
                  <a:schemeClr val="lt1"/>
                </a:solidFill>
                <a:effectLst/>
                <a:uFillTx/>
                <a:latin typeface="Roboto Mono"/>
                <a:ea typeface="Roboto Mono"/>
              </a:rPr>
              <a:t>Конструктор должен принимать как минимум один параметр ссылку на текущий объект - self.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Получение параметров и функций класса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0" y="914400"/>
            <a:ext cx="9144000" cy="411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55000" lnSpcReduction="19999"/>
          </a:bodyPr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class Person: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def __init__(self, name, age):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    self.name = name    # </a:t>
            </a: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имя человека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       </a:t>
            </a: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self.age = age        # </a:t>
            </a: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возраст человека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tom = Person("Tom", 22)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 </a:t>
            </a: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обращение к атрибутам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 получение значений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print(tom.name)     # Tom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print(tom.age)      # 22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# </a:t>
            </a:r>
            <a:r>
              <a:rPr lang="ru-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изменение значения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tom.age = 37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6160"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print(tom.age)      # 37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Наследование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Lato"/>
              </a:rPr>
              <a:t>Наследование позволяет создавать новый класс на основе уже существующего класса.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Lato"/>
              </a:rPr>
              <a:t>Ключевыми понятиями наследования являются подкласс и суперкласс. Подкласс наследует от суперкласса все публичные атрибуты и методы. Суперкласс еще называется базовым (base class) или родительским (parent class), а подкласс - производным (derived class) или дочерним (child class).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88038"/>
                </a:solidFill>
                <a:effectLst/>
                <a:uFillTx/>
                <a:latin typeface="Arial"/>
                <a:ea typeface="Roboto Mono"/>
              </a:rPr>
              <a:t>class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188038"/>
                </a:solidFill>
                <a:effectLst/>
                <a:uFillTx/>
                <a:latin typeface="Arial"/>
                <a:ea typeface="Roboto Mono"/>
              </a:rPr>
              <a:t>Teacher(Person):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188038"/>
                </a:solidFill>
                <a:effectLst/>
                <a:uFillTx/>
                <a:latin typeface="Arial"/>
                <a:ea typeface="Roboto Mono"/>
              </a:rPr>
              <a:t>    def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400" b="0" u="none" strike="noStrike">
                <a:solidFill>
                  <a:srgbClr val="188038"/>
                </a:solidFill>
                <a:effectLst/>
                <a:uFillTx/>
                <a:latin typeface="Arial"/>
                <a:ea typeface="Roboto Mono"/>
              </a:rPr>
              <a:t>__init__(self, name, age):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88038"/>
                </a:solidFill>
                <a:effectLst/>
                <a:uFillTx/>
                <a:latin typeface="Arial"/>
                <a:ea typeface="Roboto Mono"/>
              </a:rPr>
              <a:t>        super.__init__(name, age)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88038"/>
                </a:solidFill>
                <a:effectLst/>
                <a:uFillTx/>
                <a:latin typeface="Arial"/>
                <a:ea typeface="Roboto Mono"/>
              </a:rPr>
              <a:t>      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Библиотеки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Библиотека — это набор связанных модулей, объединенных вместе для решения определенной задачи или предоставления определенного функционала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import library - импортируем библиотеку, теперь мы можем обращаться к объектам, Которые там описаны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import library as lb- импортируем библиотеку и даем ей наименование в нашем пространстве имен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from library import object – импортируем объект из библиотеки напрямую в наше пространство имен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sz="24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pip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pip — система управления пакетами, которая используется для установки и управления программными пакетами, написанными на Python.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br>
              <a:rPr sz="1500"/>
            </a:br>
            <a:r>
              <a:rPr lang="ru" sz="1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Большинство библиотек вы можете найти на сайте </a:t>
            </a:r>
            <a:r>
              <a:rPr lang="ru" sz="1500" b="0" u="sng" strike="noStrike">
                <a:solidFill>
                  <a:schemeClr val="hlink"/>
                </a:solidFill>
                <a:effectLst/>
                <a:uFillTx/>
                <a:latin typeface="Times New Roman"/>
                <a:ea typeface="Times New Roman"/>
                <a:hlinkClick r:id="rId1"/>
              </a:rPr>
              <a:t>PyPI</a:t>
            </a:r>
            <a:r>
              <a:rPr lang="ru" sz="15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Times New Roman"/>
              </a:rPr>
              <a:t>, где указаны библиотеки, их версии и описание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360" cy="91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360" cy="291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15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pip install &lt;package_name&gt; – Установка библиотеки с заданным именем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pip install &lt;package_name&gt;==&lt;version&gt; –Установка библиотеки указанной версии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pip install -r /path/to/requirements.txt – Установка библиотек, которые указаны в файле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pip install uninstall &lt;package_name&gt; – Удаление библиотеки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ru" sz="13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pip list – Перечисляет все установленные библиотеки и их версии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Application>LibreOffice/26.8.1.1$Linux_X86_64 LibreOffice_project/bf6ef2662401c7d6dce671ab4deb26ee0af3a7c1</Application>
  <AppVersion>15.0000</AppVersion>
  <Words>447</Words>
  <Paragraphs>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2026-10-08T17:47:18Z</dcterms:modified>
  <cp:revision>9</cp:revision>
  <dc:subject/>
  <dc:title>python классы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Экран (16:9)</vt:lpwstr>
  </property>
  <property fmtid="{D5CDD505-2E9C-101B-9397-08002B2CF9AE}" pid="4" name="Slides">
    <vt:i4>9</vt:i4>
  </property>
</Properties>
</file>