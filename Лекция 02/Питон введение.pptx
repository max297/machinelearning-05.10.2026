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61" r:id="rId4"/>
    <p:sldId id="258" r:id="rId5"/>
    <p:sldId id="259" r:id="rId6"/>
    <p:sldId id="260" r:id="rId7"/>
    <p:sldId id="262" r:id="rId8"/>
    <p:sldId id="263" r:id="rId9"/>
    <p:sldId id="264" r:id="rId10"/>
    <p:sldId id="265" r:id="rId11"/>
    <p:sldId id="266" r:id="rId12"/>
    <p:sldId id="272" r:id="rId13"/>
    <p:sldId id="273" r:id="rId14"/>
    <p:sldId id="267" r:id="rId15"/>
    <p:sldId id="274" r:id="rId16"/>
    <p:sldId id="268" r:id="rId17"/>
    <p:sldId id="269" r:id="rId18"/>
    <p:sldId id="270" r:id="rId19"/>
  </p:sldIdLst>
  <p:sldSz cx="9144000" cy="5143500" type="screen16x9"/>
  <p:notesSz cx="6858000" cy="9144000"/>
  <p:embeddedFontLst>
    <p:embeddedFont>
      <p:font typeface="Lato" panose="020F0502020204030203" pitchFamily="34" charset="0"/>
      <p:regular r:id="rId21"/>
      <p:bold r:id="rId22"/>
      <p:italic r:id="rId23"/>
      <p:boldItalic r:id="rId24"/>
    </p:embeddedFont>
    <p:embeddedFont>
      <p:font typeface="Montserrat" panose="00000500000000000000" pitchFamily="2" charset="-52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3D46B77-5A1F-4BE1-9A1F-B4EC885D3A0F}">
  <a:tblStyle styleId="{33D46B77-5A1F-4BE1-9A1F-B4EC885D3A0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4" d="100"/>
          <a:sy n="124" d="100"/>
        </p:scale>
        <p:origin x="2184" y="7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9455f9e49_0_1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9455f9e49_0_1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79455f9e49_0_1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79455f9e49_0_1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79455f9e49_0_1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79455f9e49_0_17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79455f9e49_0_1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79455f9e49_0_1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79455f9e49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79455f9e49_0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9455f9e49_0_2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79455f9e49_0_2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79455f9e49_0_2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79455f9e49_0_2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79455f9e49_0_2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79455f9e49_0_2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79455f9e49_0_2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79455f9e49_0_2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79455f9e49_0_1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79455f9e49_0_1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79455f9e49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79455f9e49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79455f9e49_0_2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79455f9e49_0_2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79455f9e49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79455f9e49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79455f9e49_0_2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79455f9e49_0_2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Введение в python</a:t>
            </a:r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Программирование</a:t>
            </a:r>
            <a:endParaRPr/>
          </a:p>
        </p:txBody>
      </p:sp>
      <p:sp>
        <p:nvSpPr>
          <p:cNvPr id="141" name="Google Shape;141;p1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Программирование — это процесс создания компьютерных программ. Они нужны, чтобы облегчить привычные будничные или рабочие процессы. Например, чтобы не считать каждый раз в уме, хватит ли на мороженое, можно поручить эту задачу компьютеру.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Язык программирования — это формальная знаковая система, на которой пишут компьютерные программы. Его можно представить как набор разнообразных правил и команд, на основе которых программист пишет код. Иногда словосочетание сокращают как ЯП.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Python</a:t>
            </a:r>
            <a:endParaRPr/>
          </a:p>
        </p:txBody>
      </p:sp>
      <p:sp>
        <p:nvSpPr>
          <p:cNvPr id="165" name="Google Shape;165;p1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Python — это язык программирования, который широко используется в интернет-приложениях, разработке программного обеспечения, науке о данных и машинном обучении (ML). Разработчики используют Python, потому что он эффективен, прост в изучении и работает на разных платформах.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 u="sng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https://colab.research.google.com/</a:t>
            </a:r>
            <a:endParaRPr sz="1800" u="sng">
              <a:solidFill>
                <a:schemeClr val="hlink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Основные понятия</a:t>
            </a:r>
            <a:endParaRPr/>
          </a:p>
        </p:txBody>
      </p:sp>
      <p:sp>
        <p:nvSpPr>
          <p:cNvPr id="147" name="Google Shape;147;p1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Переменная (Variable) --- Это идентификатор, используемый для хранения значений в памяти компьютера. Программист может присваивать и изменять значения переменных. Например переменная name, хранит имя человека и мы можем получить его используя эту переменную.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Логическое выражение в программировании — конструкция языка программирования, результатом вычисления которой является «истина» или «ложь». Это может быть сравнение ==, или знаки &gt; и &lt;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Функция (Function) - Это блок кода, который выполняет определенную операцию. Функции могут быть вызваны и использованы в различных частях программы.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6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Условное выражение (Conditional Statement) Это конструкция, которая проверяет логическое выражение и выполняет определенное действие, в зависимости от условий. Примером может быть оператор “if-else”.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Цикл (Loop) - Это конструкция, позволяющая программе выполнять определенный блок кода многократно.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Массив (Array) - Это структура данных, позволяющая хранить множество элементов одного типа. Элементы массива могут быть обращены по индексу.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Индекс — число, буквы или другая комбинация символов, указывающая место элемента в массиве.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7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indent="457200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600" dirty="0">
                <a:latin typeface="Times New Roman"/>
                <a:ea typeface="Times New Roman"/>
                <a:cs typeface="Times New Roman"/>
                <a:sym typeface="Times New Roman"/>
              </a:rPr>
              <a:t>Класс — это «шаблон», который описывает свойства некого объекта. Несколько похожих между собой объектов, например профили разных пользователей, будут иметь одинаковую структуру, а значит, принадлежать к одному классу. Каждый объект — это экземпляр какого-нибудь класса.</a:t>
            </a:r>
            <a:endParaRPr lang="ru-RU" sz="16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indent="457200">
              <a:spcBef>
                <a:spcPts val="1200"/>
              </a:spcBef>
              <a:spcAft>
                <a:spcPts val="1200"/>
              </a:spcAft>
              <a:buNone/>
            </a:pPr>
            <a:r>
              <a:rPr lang="ru-RU" sz="1600" dirty="0">
                <a:latin typeface="Times New Roman"/>
                <a:ea typeface="Times New Roman"/>
                <a:cs typeface="Times New Roman"/>
                <a:sym typeface="Times New Roman"/>
              </a:rPr>
              <a:t>Объект —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главная структурная единица. Всё, с чем вы работаете в коде (числа, строки, списки, функции и даже сами классы), является объектами. Каждый объект имеет </a:t>
            </a:r>
            <a:r>
              <a:rPr lang="ru-RU" sz="1600" b="1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идентификатор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(адрес в памяти), </a:t>
            </a:r>
            <a:r>
              <a:rPr lang="ru-RU" sz="1600" b="1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тип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(что он может делать) и </a:t>
            </a:r>
            <a:r>
              <a:rPr lang="ru-RU" sz="1600" b="1" u="none" strike="noStrike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значение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(хранимые данные)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457200">
              <a:spcBef>
                <a:spcPts val="1200"/>
              </a:spcBef>
              <a:spcAft>
                <a:spcPts val="1200"/>
              </a:spcAft>
              <a:buNone/>
            </a:pPr>
            <a:endParaRPr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ООП</a:t>
            </a:r>
            <a:endParaRPr/>
          </a:p>
        </p:txBody>
      </p:sp>
      <p:sp>
        <p:nvSpPr>
          <p:cNvPr id="171" name="Google Shape;171;p19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1600">
                <a:latin typeface="Times New Roman"/>
                <a:ea typeface="Times New Roman"/>
                <a:cs typeface="Times New Roman"/>
                <a:sym typeface="Times New Roman"/>
              </a:rPr>
              <a:t>Объектно-ориентированное программирование (ООП) — это подход, при котором программа рассматривается как набор объектов, взаимодействующих друг с другом. У каждого есть свойства и поведение. В программировании объекты — это структуры данных: пользователь, кнопка, сообщение. У них, как и у реальных предметов, могут быть свойства: цвет, содержание или имя пользователя. А чтобы объединить между собой объекты с похожими свойствами, существуют классы.</a:t>
            </a:r>
            <a:endParaRPr sz="1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20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78" name="Google Shape;178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5725" y="1165488"/>
            <a:ext cx="5312551" cy="281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1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21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latin typeface="Times New Roman"/>
                <a:ea typeface="Times New Roman"/>
                <a:cs typeface="Times New Roman"/>
                <a:sym typeface="Times New Roman"/>
              </a:rPr>
              <a:t>Абстракция означает выделение главных, наиболее значимых характеристик предмета и наоборот — отбрасывание второстепенных, незначительных.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latin typeface="Times New Roman"/>
                <a:ea typeface="Times New Roman"/>
                <a:cs typeface="Times New Roman"/>
                <a:sym typeface="Times New Roman"/>
              </a:rPr>
              <a:t>Инкапсуляция  это принцип, согласно которому внутреннее устройство сущностей нужно объединять в специальной «оболочке» и скрывать от вмешательств извне. Доступ к объектам возможен через специальные открытые методы, а напрямую обратиться к их содержимому нельзя.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2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22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latin typeface="Times New Roman"/>
                <a:ea typeface="Times New Roman"/>
                <a:cs typeface="Times New Roman"/>
                <a:sym typeface="Times New Roman"/>
              </a:rPr>
              <a:t>Наследование — механизм, который позволяет описать новый класс на основе существующего (родительского). При этом свойства и функциональность родительского класса заимствуются новым классом.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45720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latin typeface="Times New Roman"/>
                <a:ea typeface="Times New Roman"/>
                <a:cs typeface="Times New Roman"/>
                <a:sym typeface="Times New Roman"/>
              </a:rPr>
              <a:t>Полиморфизм — это возможность работать с несколькими типами так, будто это один и тот же тип. При этом поведение объектов будет разным в зависимости от типа, к которому они принадлежат.</a:t>
            </a:r>
            <a:endParaRPr sz="1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3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Python правила написания кода</a:t>
            </a:r>
            <a:endParaRPr/>
          </a:p>
        </p:txBody>
      </p:sp>
      <p:sp>
        <p:nvSpPr>
          <p:cNvPr id="196" name="Google Shape;196;p23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Каждая команда выполняется последовательно, если вы пишете цикл,условное  выражение  или функцию, код который выполняется внутри, нужно отделить 4 пробелами или tab.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Названия переменных и функций должны быть на английском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873EE2-1B85-4842-AED9-65423C4C53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Создание </a:t>
            </a:r>
            <a:r>
              <a:rPr lang="ru-RU" dirty="0" err="1"/>
              <a:t>перменных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4CBB5F3-473B-43B9-8AE4-BC0EC49C83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6050" indent="0">
              <a:buNone/>
            </a:pPr>
            <a:r>
              <a:rPr lang="ru-RU" dirty="0" err="1"/>
              <a:t>имя_переменной</a:t>
            </a:r>
            <a:r>
              <a:rPr lang="ru-RU" dirty="0"/>
              <a:t> = значение</a:t>
            </a:r>
          </a:p>
          <a:p>
            <a:pPr marL="146050" indent="0">
              <a:buNone/>
            </a:pPr>
            <a:r>
              <a:rPr lang="ru-RU" dirty="0"/>
              <a:t>Примеры:</a:t>
            </a:r>
          </a:p>
          <a:p>
            <a:pPr marL="146050" indent="0">
              <a:buNone/>
            </a:pPr>
            <a:endParaRPr lang="ru-RU" dirty="0"/>
          </a:p>
          <a:p>
            <a:pPr marL="146050" indent="0">
              <a:buNone/>
            </a:pPr>
            <a:r>
              <a:rPr lang="en-US" dirty="0"/>
              <a:t>age = 25                   # </a:t>
            </a:r>
            <a:r>
              <a:rPr lang="ru-RU" dirty="0"/>
              <a:t>Возраст</a:t>
            </a:r>
          </a:p>
          <a:p>
            <a:pPr marL="146050" indent="0">
              <a:buNone/>
            </a:pPr>
            <a:r>
              <a:rPr lang="en-US" dirty="0"/>
              <a:t>name = "</a:t>
            </a:r>
            <a:r>
              <a:rPr lang="ru-RU" dirty="0"/>
              <a:t>Алексей"           # Имя</a:t>
            </a:r>
          </a:p>
          <a:p>
            <a:pPr marL="146050" indent="0">
              <a:buNone/>
            </a:pPr>
            <a:r>
              <a:rPr lang="en-US" dirty="0"/>
              <a:t>temperature = 36.6         # </a:t>
            </a:r>
            <a:r>
              <a:rPr lang="ru-RU" dirty="0"/>
              <a:t>Температура</a:t>
            </a:r>
          </a:p>
          <a:p>
            <a:pPr marL="146050" indent="0">
              <a:buNone/>
            </a:pPr>
            <a:r>
              <a:rPr lang="en-US" dirty="0" err="1"/>
              <a:t>is_raining</a:t>
            </a:r>
            <a:r>
              <a:rPr lang="en-US" dirty="0"/>
              <a:t> = False         # </a:t>
            </a:r>
            <a:r>
              <a:rPr lang="ru-RU" dirty="0"/>
              <a:t>Идёт ли дождь</a:t>
            </a:r>
          </a:p>
        </p:txBody>
      </p:sp>
    </p:spTree>
    <p:extLst>
      <p:ext uri="{BB962C8B-B14F-4D97-AF65-F5344CB8AC3E}">
        <p14:creationId xmlns:p14="http://schemas.microsoft.com/office/powerpoint/2010/main" val="106632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F01BC2-A9AA-4A12-A960-E83B9C397F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Правила наименования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77E3C70-FFFC-4FD8-AA70-FB152AFB55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97500" y="1307850"/>
            <a:ext cx="7038900" cy="3583464"/>
          </a:xfrm>
        </p:spPr>
        <p:txBody>
          <a:bodyPr>
            <a:normAutofit fontScale="92500" lnSpcReduction="20000"/>
          </a:bodyPr>
          <a:lstStyle/>
          <a:p>
            <a:pPr marL="146050" indent="0">
              <a:buNone/>
            </a:pPr>
            <a:r>
              <a:rPr lang="ru-RU" dirty="0"/>
              <a:t>Допустимые символы:</a:t>
            </a:r>
          </a:p>
          <a:p>
            <a:pPr marL="146050" indent="0">
              <a:buNone/>
            </a:pPr>
            <a:endParaRPr lang="ru-RU" dirty="0"/>
          </a:p>
          <a:p>
            <a:pPr marL="146050" indent="0">
              <a:buNone/>
            </a:pPr>
            <a:r>
              <a:rPr lang="ru-RU" dirty="0"/>
              <a:t>    Буквы (a-z, A-Z)</a:t>
            </a:r>
          </a:p>
          <a:p>
            <a:pPr marL="146050" indent="0">
              <a:buNone/>
            </a:pPr>
            <a:endParaRPr lang="ru-RU" dirty="0"/>
          </a:p>
          <a:p>
            <a:pPr marL="146050" indent="0">
              <a:buNone/>
            </a:pPr>
            <a:r>
              <a:rPr lang="ru-RU" dirty="0"/>
              <a:t>    Цифры (0-9), но не в начале имени</a:t>
            </a:r>
          </a:p>
          <a:p>
            <a:pPr marL="146050" indent="0">
              <a:buNone/>
            </a:pPr>
            <a:endParaRPr lang="ru-RU" dirty="0"/>
          </a:p>
          <a:p>
            <a:pPr marL="146050" indent="0">
              <a:buNone/>
            </a:pPr>
            <a:r>
              <a:rPr lang="ru-RU" dirty="0"/>
              <a:t>    Знак подчёркивания (_)</a:t>
            </a:r>
          </a:p>
          <a:p>
            <a:pPr marL="146050" indent="0">
              <a:buNone/>
            </a:pPr>
            <a:endParaRPr lang="ru-RU" dirty="0"/>
          </a:p>
          <a:p>
            <a:pPr marL="146050" indent="0">
              <a:buNone/>
            </a:pPr>
            <a:r>
              <a:rPr lang="ru-RU" dirty="0"/>
              <a:t>Недопустимые символы:</a:t>
            </a:r>
          </a:p>
          <a:p>
            <a:pPr marL="146050" indent="0">
              <a:buNone/>
            </a:pPr>
            <a:endParaRPr lang="ru-RU" dirty="0"/>
          </a:p>
          <a:p>
            <a:pPr marL="146050" indent="0">
              <a:buNone/>
            </a:pPr>
            <a:r>
              <a:rPr lang="ru-RU" dirty="0"/>
              <a:t>    Специальные символы (@, #, $, % и др.)</a:t>
            </a:r>
          </a:p>
          <a:p>
            <a:pPr marL="146050" indent="0">
              <a:buNone/>
            </a:pPr>
            <a:endParaRPr lang="ru-RU" dirty="0"/>
          </a:p>
          <a:p>
            <a:pPr marL="146050" indent="0">
              <a:buNone/>
            </a:pPr>
            <a:r>
              <a:rPr lang="ru-RU" dirty="0"/>
              <a:t>    Пробелы</a:t>
            </a:r>
          </a:p>
          <a:p>
            <a:pPr marL="146050" indent="0">
              <a:buNone/>
            </a:pPr>
            <a:endParaRPr lang="ru-RU" dirty="0"/>
          </a:p>
          <a:p>
            <a:pPr marL="146050" indent="0">
              <a:buNone/>
            </a:pPr>
            <a:r>
              <a:rPr lang="ru-RU" dirty="0"/>
              <a:t>    Дефисы (-)</a:t>
            </a:r>
          </a:p>
          <a:p>
            <a:pPr marL="146050" indent="0">
              <a:buNone/>
            </a:pPr>
            <a:endParaRPr lang="ru-RU" dirty="0"/>
          </a:p>
          <a:p>
            <a:pPr marL="146050" indent="0">
              <a:buNone/>
            </a:pPr>
            <a:r>
              <a:rPr lang="ru-RU" dirty="0"/>
              <a:t>Регистр букв имеет значение: </a:t>
            </a:r>
            <a:r>
              <a:rPr lang="ru-RU" dirty="0" err="1"/>
              <a:t>Age</a:t>
            </a:r>
            <a:r>
              <a:rPr lang="ru-RU" dirty="0"/>
              <a:t>, AGE и </a:t>
            </a:r>
            <a:r>
              <a:rPr lang="ru-RU" dirty="0" err="1"/>
              <a:t>age</a:t>
            </a:r>
            <a:r>
              <a:rPr lang="ru-RU" dirty="0"/>
              <a:t> — три разные переменные.</a:t>
            </a:r>
          </a:p>
          <a:p>
            <a:pPr marL="146050" indent="0">
              <a:buNone/>
            </a:pPr>
            <a:endParaRPr lang="ru-RU" dirty="0"/>
          </a:p>
          <a:p>
            <a:pPr marL="146050" indent="0">
              <a:buNone/>
            </a:pPr>
            <a:r>
              <a:rPr lang="ru-RU" dirty="0"/>
              <a:t>Запрещённые имена — нельзя использовать ключевые слова Python</a:t>
            </a:r>
          </a:p>
        </p:txBody>
      </p:sp>
    </p:spTree>
    <p:extLst>
      <p:ext uri="{BB962C8B-B14F-4D97-AF65-F5344CB8AC3E}">
        <p14:creationId xmlns:p14="http://schemas.microsoft.com/office/powerpoint/2010/main" val="2184190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Типы переменных</a:t>
            </a:r>
            <a:endParaRPr/>
          </a:p>
        </p:txBody>
      </p:sp>
      <p:sp>
        <p:nvSpPr>
          <p:cNvPr id="202" name="Google Shape;202;p24"/>
          <p:cNvSpPr txBox="1">
            <a:spLocks noGrp="1"/>
          </p:cNvSpPr>
          <p:nvPr>
            <p:ph type="body" idx="1"/>
          </p:nvPr>
        </p:nvSpPr>
        <p:spPr>
          <a:xfrm>
            <a:off x="1297500" y="955497"/>
            <a:ext cx="7038900" cy="39350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Тип перменной указывает на то, какие данных хранит переменная и какие операции с ней можно выполнять</a:t>
            </a:r>
            <a:endParaRPr sz="150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Типы переменных в языке Python не объявляются очевидно, тем не менее они присутствуют. Интерпретатор понимает что записывается в переменную и на основании этого добавляет тип к этой переменной.</a:t>
            </a:r>
            <a:endParaRPr sz="150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Всего в Python есть 4 базовых типа переменных:</a:t>
            </a:r>
            <a:endParaRPr sz="150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some = 1 ; Integer - целые числа;</a:t>
            </a:r>
            <a:endParaRPr sz="150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some = 1.12 ; Float - числа с плавающей точкой;</a:t>
            </a:r>
            <a:endParaRPr sz="150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some = "Привет" ; String - строки;</a:t>
            </a:r>
            <a:endParaRPr lang="en-US" sz="150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en-US" sz="15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some = [1,2,3,4,5,’</a:t>
            </a:r>
            <a:r>
              <a:rPr lang="ru-RU" sz="15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Шесть</a:t>
            </a:r>
            <a:r>
              <a:rPr lang="en-US" sz="15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’]</a:t>
            </a:r>
            <a:r>
              <a:rPr lang="ru-RU" sz="15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; </a:t>
            </a:r>
            <a:r>
              <a:rPr lang="en-US" sz="15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array - </a:t>
            </a:r>
            <a:r>
              <a:rPr lang="ru-RU" sz="15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массив;</a:t>
            </a:r>
            <a:endParaRPr sz="150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5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some = True ; Boolean - тип данных принимающий либо False, либо True.</a:t>
            </a:r>
            <a:endParaRPr lang="en-US" sz="150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B44E03-755B-4682-B5EC-3E9E207F1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Блок </a:t>
            </a:r>
            <a:r>
              <a:rPr lang="en-US" dirty="0"/>
              <a:t>if </a:t>
            </a:r>
            <a:endParaRPr lang="ru-RU" dirty="0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FECC28B0-546A-470E-BFFA-F91E45DF04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46050" indent="0">
              <a:buNone/>
            </a:pPr>
            <a:r>
              <a:rPr lang="en-US" dirty="0"/>
              <a:t>if </a:t>
            </a:r>
            <a:r>
              <a:rPr lang="ru-RU" dirty="0"/>
              <a:t>условие1</a:t>
            </a:r>
            <a:r>
              <a:rPr lang="en-US" dirty="0"/>
              <a:t>:</a:t>
            </a:r>
          </a:p>
          <a:p>
            <a:pPr marL="146050" indent="0">
              <a:buNone/>
            </a:pPr>
            <a:r>
              <a:rPr lang="en-US" dirty="0"/>
              <a:t>	</a:t>
            </a:r>
            <a:r>
              <a:rPr lang="ru-RU" dirty="0"/>
              <a:t>действие1</a:t>
            </a:r>
            <a:endParaRPr lang="en-US" dirty="0"/>
          </a:p>
          <a:p>
            <a:pPr marL="146050" indent="0">
              <a:buNone/>
            </a:pPr>
            <a:r>
              <a:rPr lang="en-US" dirty="0" err="1"/>
              <a:t>elif</a:t>
            </a:r>
            <a:r>
              <a:rPr lang="en-US" dirty="0"/>
              <a:t> </a:t>
            </a:r>
            <a:r>
              <a:rPr lang="ru-RU" dirty="0"/>
              <a:t>условие2</a:t>
            </a:r>
            <a:r>
              <a:rPr lang="en-US" dirty="0"/>
              <a:t>:</a:t>
            </a:r>
          </a:p>
          <a:p>
            <a:pPr marL="146050" indent="0">
              <a:buNone/>
            </a:pPr>
            <a:r>
              <a:rPr lang="en-US" dirty="0"/>
              <a:t>	</a:t>
            </a:r>
            <a:r>
              <a:rPr lang="ru-RU" dirty="0"/>
              <a:t>действие2</a:t>
            </a:r>
            <a:endParaRPr lang="en-US" dirty="0"/>
          </a:p>
          <a:p>
            <a:pPr marL="146050" indent="0">
              <a:buNone/>
            </a:pPr>
            <a:r>
              <a:rPr lang="en-US"/>
              <a:t>else</a:t>
            </a:r>
            <a:r>
              <a:rPr lang="en-US" dirty="0"/>
              <a:t>:</a:t>
            </a:r>
          </a:p>
          <a:p>
            <a:pPr marL="146050" indent="0">
              <a:buNone/>
            </a:pPr>
            <a:r>
              <a:rPr lang="en-US" dirty="0"/>
              <a:t>	</a:t>
            </a:r>
            <a:r>
              <a:rPr lang="ru-RU" dirty="0"/>
              <a:t>действие3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394972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Логические выражения</a:t>
            </a:r>
            <a:endParaRPr/>
          </a:p>
        </p:txBody>
      </p:sp>
      <p:graphicFrame>
        <p:nvGraphicFramePr>
          <p:cNvPr id="208" name="Google Shape;208;p25"/>
          <p:cNvGraphicFramePr/>
          <p:nvPr/>
        </p:nvGraphicFramePr>
        <p:xfrm>
          <a:off x="1197450" y="946725"/>
          <a:ext cx="7239000" cy="3962100"/>
        </p:xfrm>
        <a:graphic>
          <a:graphicData uri="http://schemas.openxmlformats.org/drawingml/2006/table">
            <a:tbl>
              <a:tblPr>
                <a:noFill/>
                <a:tableStyleId>{33D46B77-5A1F-4BE1-9A1F-B4EC885D3A0F}</a:tableStyleId>
              </a:tblPr>
              <a:tblGrid>
                <a:gridCol w="999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4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4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Оператор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Пример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Возвращает true, если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&gt;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a&gt;b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 больше 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&lt;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a&lt;b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 меньше 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&gt;=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a&gt;=b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 больше, или равно 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&lt;=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a&lt;=b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 меньше, или равно 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==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a==b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 и b имеют одинаковое значение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!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!a&gt;b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выражение a&gt;b возвращает false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and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a&gt;0 and a&lt;10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 больше 0 и меньше 10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or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a==b or a&gt;b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a больше или равно b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in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x in [1, 2, 3]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lt1"/>
                          </a:solidFill>
                        </a:rPr>
                        <a:t>значение x есть в массиве</a:t>
                      </a:r>
                      <a:endParaRPr>
                        <a:solidFill>
                          <a:schemeClr val="lt1"/>
                        </a:solidFill>
                      </a:endParaRPr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Циклы</a:t>
            </a:r>
            <a:endParaRPr/>
          </a:p>
        </p:txBody>
      </p:sp>
      <p:sp>
        <p:nvSpPr>
          <p:cNvPr id="214" name="Google Shape;214;p26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python имеет 2 вида циклов for и while.</a:t>
            </a:r>
            <a:b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for указывает, что некоторые действия выполняются заданное количество раз, а while указывает, что действия должны выполнятся пока некоторое условие возвращает true</a:t>
            </a: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25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Создание функции</a:t>
            </a:r>
            <a:endParaRPr/>
          </a:p>
        </p:txBody>
      </p:sp>
      <p:sp>
        <p:nvSpPr>
          <p:cNvPr id="220" name="Google Shape;220;p27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 add(x, y):</a:t>
            </a:r>
            <a:endParaRPr sz="180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"""Сложение двух чисел."""</a:t>
            </a:r>
            <a:endParaRPr sz="180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return x + y</a:t>
            </a:r>
            <a:endParaRPr sz="180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Эта функция получает два аргумента и возвращает их сумму.</a:t>
            </a:r>
            <a:endParaRPr sz="180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def add объявляет функцию и указывает ее имя, в круглых скобка указываются аргументы функции, которые она должна получить для работы.</a:t>
            </a:r>
            <a:b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ru" sz="18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ru" sz="1800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return указывает значения, которые возвращяет функция</a:t>
            </a:r>
            <a:endParaRPr sz="1800" dirty="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1090</Words>
  <Application>Microsoft Office PowerPoint</Application>
  <PresentationFormat>Экран (16:9)</PresentationFormat>
  <Paragraphs>110</Paragraphs>
  <Slides>18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3" baseType="lpstr">
      <vt:lpstr>Montserrat</vt:lpstr>
      <vt:lpstr>Times New Roman</vt:lpstr>
      <vt:lpstr>Lato</vt:lpstr>
      <vt:lpstr>Arial</vt:lpstr>
      <vt:lpstr>Focus</vt:lpstr>
      <vt:lpstr>Введение в python</vt:lpstr>
      <vt:lpstr>Программирование</vt:lpstr>
      <vt:lpstr>Python</vt:lpstr>
      <vt:lpstr>Основные понятия</vt:lpstr>
      <vt:lpstr>Презентация PowerPoint</vt:lpstr>
      <vt:lpstr>Презентация PowerPoint</vt:lpstr>
      <vt:lpstr>ООП</vt:lpstr>
      <vt:lpstr>Презентация PowerPoint</vt:lpstr>
      <vt:lpstr>Презентация PowerPoint</vt:lpstr>
      <vt:lpstr>Презентация PowerPoint</vt:lpstr>
      <vt:lpstr>Python правила написания кода</vt:lpstr>
      <vt:lpstr>Создание перменных</vt:lpstr>
      <vt:lpstr>Правила наименования</vt:lpstr>
      <vt:lpstr>Типы переменных</vt:lpstr>
      <vt:lpstr>Блок if </vt:lpstr>
      <vt:lpstr>Логические выражения</vt:lpstr>
      <vt:lpstr>Циклы</vt:lpstr>
      <vt:lpstr>Создание функции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Введение в python</dc:title>
  <cp:lastModifiedBy>Акулин Максим Александрович</cp:lastModifiedBy>
  <cp:revision>6</cp:revision>
  <dcterms:modified xsi:type="dcterms:W3CDTF">2026-10-07T11:12:24Z</dcterms:modified>
</cp:coreProperties>
</file>