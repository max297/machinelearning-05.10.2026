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0" r:id="rId3"/>
    <p:sldMasterId id="2147483654" r:id="rId4"/>
  </p:sldMasterIdLst>
  <p:sldIdLst>
    <p:sldId id="256" r:id="rId5"/>
    <p:sldId id="257" r:id="rId6"/>
    <p:sldId id="258" r:id="rId7"/>
    <p:sldId id="259" r:id="rId8"/>
    <p:sldId id="260" r:id="rId9"/>
  </p:sldIdLst>
  <p:sldSz cx="9144000" cy="51435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font" Target="fonts/Font_1_Montserrat_Regular.fntdata"/><Relationship Id="rId11" Type="http://schemas.openxmlformats.org/officeDocument/2006/relationships/font" Target="fonts/Font_2_Montserrat_Bold.fntdata"/><Relationship Id="rId12" Type="http://schemas.openxmlformats.org/officeDocument/2006/relationships/font" Target="fonts/Font_3_Montserrat_Italic.fntdata"/><Relationship Id="rId13" Type="http://schemas.openxmlformats.org/officeDocument/2006/relationships/font" Target="fonts/Font_4_Montserrat_BoldItalic.fntdata"/><Relationship Id="rId14" Type="http://schemas.openxmlformats.org/officeDocument/2006/relationships/font" Target="fonts/Font_5_Lato_Regular.fntdata"/><Relationship Id="rId15" Type="http://schemas.openxmlformats.org/officeDocument/2006/relationships/font" Target="fonts/Font_6_Lato_Bold.fntdata"/><Relationship Id="rId16" Type="http://schemas.openxmlformats.org/officeDocument/2006/relationships/font" Target="fonts/Font_7_Lato_Italic.fntdata"/><Relationship Id="rId17" Type="http://schemas.openxmlformats.org/officeDocument/2006/relationships/font" Target="fonts/Font_8_Lato_BoldItalic.fntdata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3D049BA-69BD-495B-BDFF-2440A2F822A8}" type="slidenum">
              <a:t>&lt;#&gt;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06;p11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14" name="Google Shape;107;p11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Google Shape;108;p11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Google Shape;109;p11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Google Shape;110;p11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Google Shape;111;p11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Google Shape;112;p11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Google Shape;113;p11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Google Shape;114;p11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Google Shape;115;p11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Google Shape;116;p11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Google Shape;117;p11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Google Shape;118;p11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Google Shape;119;p11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Google Shape;120;p11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Google Shape;121;p11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Google Shape;122;p11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Google Shape;123;p11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Google Shape;124;p11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823680" y="1284840"/>
            <a:ext cx="477576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lnSpc>
                <a:spcPct val="100000"/>
              </a:lnSpc>
              <a:buNone/>
              <a:defRPr lang="en-US" sz="8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8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en-US" sz="8000" b="0" u="none" strike="noStrike">
              <a:solidFill>
                <a:schemeClr val="lt1"/>
              </a:solidFill>
              <a:effectLst/>
              <a:uFillTx/>
              <a:latin typeface="Montserra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23680" y="2643120"/>
            <a:ext cx="4775760" cy="121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0263B8-DBE6-480F-A765-CE34D8657C6D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20;p3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37" name="Google Shape;21;p3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Google Shape;22;p3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Google Shape;23;p3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Google Shape;24;p3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Google Shape;25;p3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Google Shape;26;p3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Google Shape;27;p3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Google Shape;28;p3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Google Shape;29;p3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Google Shape;30;p3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Google Shape;31;p3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Google Shape;32;p3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Google Shape;33;p3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Google Shape;34;p3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Google Shape;35;p3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Google Shape;36;p3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Google Shape;37;p3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Google Shape;38;p3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760" cy="114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7825C75-05EB-46F2-875C-82696BFD42A6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70;p8"/>
          <p:cNvGrpSpPr/>
          <p:nvPr/>
        </p:nvGrpSpPr>
        <p:grpSpPr>
          <a:xfrm>
            <a:off x="4406760" y="0"/>
            <a:ext cx="4737240" cy="5143680"/>
            <a:chOff x="4406760" y="0"/>
            <a:chExt cx="4737240" cy="5143680"/>
          </a:xfrm>
        </p:grpSpPr>
        <p:sp>
          <p:nvSpPr>
            <p:cNvPr id="86" name="Google Shape;71;p8"/>
            <p:cNvSpPr/>
            <p:nvPr/>
          </p:nvSpPr>
          <p:spPr>
            <a:xfrm rot="5400000">
              <a:off x="4407840" y="-1440"/>
              <a:ext cx="473436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Google Shape;72;p8"/>
            <p:cNvSpPr/>
            <p:nvPr/>
          </p:nvSpPr>
          <p:spPr>
            <a:xfrm rot="5400000">
              <a:off x="4840920" y="5760"/>
              <a:ext cx="429840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Google Shape;73;p8"/>
            <p:cNvSpPr/>
            <p:nvPr/>
          </p:nvSpPr>
          <p:spPr>
            <a:xfrm rot="16200000">
              <a:off x="5618520" y="123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Google Shape;74;p8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Google Shape;75;p8"/>
            <p:cNvSpPr/>
            <p:nvPr/>
          </p:nvSpPr>
          <p:spPr>
            <a:xfrm rot="16200000">
              <a:off x="5987160" y="2469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Google Shape;76;p8"/>
            <p:cNvSpPr/>
            <p:nvPr/>
          </p:nvSpPr>
          <p:spPr>
            <a:xfrm flipH="1">
              <a:off x="6222240" y="26773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Google Shape;77;p8"/>
            <p:cNvSpPr/>
            <p:nvPr/>
          </p:nvSpPr>
          <p:spPr>
            <a:xfrm rot="16200000">
              <a:off x="6675480" y="186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Google Shape;78;p8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Google Shape;79;p8"/>
            <p:cNvSpPr/>
            <p:nvPr/>
          </p:nvSpPr>
          <p:spPr>
            <a:xfrm rot="16200000">
              <a:off x="6861240" y="247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Google Shape;80;p8"/>
            <p:cNvSpPr/>
            <p:nvPr/>
          </p:nvSpPr>
          <p:spPr>
            <a:xfrm flipH="1">
              <a:off x="7965360" y="2693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Google Shape;81;p8"/>
            <p:cNvSpPr/>
            <p:nvPr/>
          </p:nvSpPr>
          <p:spPr>
            <a:xfrm flipH="1">
              <a:off x="8145000" y="33091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Google Shape;82;p8"/>
            <p:cNvSpPr/>
            <p:nvPr/>
          </p:nvSpPr>
          <p:spPr>
            <a:xfrm rot="16200000">
              <a:off x="7047720" y="3095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Google Shape;83;p8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Google Shape;84;p8"/>
            <p:cNvSpPr/>
            <p:nvPr/>
          </p:nvSpPr>
          <p:spPr>
            <a:xfrm rot="16200000">
              <a:off x="7227360" y="3711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Google Shape;85;p8"/>
            <p:cNvSpPr/>
            <p:nvPr/>
          </p:nvSpPr>
          <p:spPr>
            <a:xfrm flipH="1">
              <a:off x="7462440" y="391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Google Shape;86;p8"/>
            <p:cNvSpPr/>
            <p:nvPr/>
          </p:nvSpPr>
          <p:spPr>
            <a:xfrm rot="16200000">
              <a:off x="8102520" y="3719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Google Shape;87;p8"/>
            <p:cNvSpPr/>
            <p:nvPr/>
          </p:nvSpPr>
          <p:spPr>
            <a:xfrm flipH="1">
              <a:off x="8334360" y="3926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Google Shape;88;p8"/>
            <p:cNvSpPr/>
            <p:nvPr/>
          </p:nvSpPr>
          <p:spPr>
            <a:xfrm rot="16200000">
              <a:off x="8288280" y="43351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23680" y="866880"/>
            <a:ext cx="4586760" cy="352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9E3A430-55C8-4422-8AFD-634A73A13492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F604A40-5EA2-4A1B-A998-5C290A0C453E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AND_BOD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42;p4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58" name="Google Shape;43;p4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Google Shape;44;p4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348E74D-8002-48A6-B6C7-DE4CF80E9595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42;p4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58" name="Google Shape;43;p4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Google Shape;44;p4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05A76DC-8D9D-4D04-81FE-5E335B6E4603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49;p5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68" name="Google Shape;50;p5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Google Shape;51;p5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3402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933080" y="1567440"/>
            <a:ext cx="3402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B5472D5-804B-43C8-BEE4-1642657E5010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57;p6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75" name="Google Shape;58;p6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Google Shape;59;p6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7D85852-4E5A-41AF-B71C-F84F2A434AEA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63;p7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80" name="Google Shape;64;p7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Google Shape;65;p7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3798720" cy="149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1297440" y="1972440"/>
            <a:ext cx="3798720" cy="2415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1C1A11-9953-4D77-BCB9-4A3365967EED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92;p9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107" name="Google Shape;93;p9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Google Shape;94;p9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297440" y="1658160"/>
            <a:ext cx="3035880" cy="175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648320" y="1696680"/>
            <a:ext cx="3676320" cy="234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9FD09C7-2C8D-47CF-9A38-CC43C7BD555C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00;p10"/>
          <p:cNvGrpSpPr/>
          <p:nvPr/>
        </p:nvGrpSpPr>
        <p:grpSpPr>
          <a:xfrm>
            <a:off x="0" y="4129200"/>
            <a:ext cx="698400" cy="683640"/>
            <a:chOff x="0" y="4129200"/>
            <a:chExt cx="698400" cy="683640"/>
          </a:xfrm>
        </p:grpSpPr>
        <p:sp>
          <p:nvSpPr>
            <p:cNvPr id="113" name="Google Shape;101;p10"/>
            <p:cNvSpPr/>
            <p:nvPr/>
          </p:nvSpPr>
          <p:spPr>
            <a:xfrm rot="16200000">
              <a:off x="0" y="4129200"/>
              <a:ext cx="544320" cy="54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Google Shape;102;p10"/>
            <p:cNvSpPr/>
            <p:nvPr/>
          </p:nvSpPr>
          <p:spPr>
            <a:xfrm flipH="1">
              <a:off x="154080" y="4268520"/>
              <a:ext cx="544320" cy="54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" name="PlaceHolder 1"/>
          <p:cNvSpPr>
            <a:spLocks noGrp="1"/>
          </p:cNvSpPr>
          <p:nvPr>
            <p:ph type="body"/>
          </p:nvPr>
        </p:nvSpPr>
        <p:spPr>
          <a:xfrm>
            <a:off x="812880" y="4305240"/>
            <a:ext cx="6935760" cy="523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5E31BD1-3815-4B05-B0D3-0594FDC98A4A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/>
          <p:nvPr/>
        </p:nvSpPr>
        <p:spPr>
          <a:xfrm rot="5400000">
            <a:off x="7500600" y="0"/>
            <a:ext cx="1643400" cy="1643400"/>
          </a:xfrm>
          <a:prstGeom prst="diagStripe">
            <a:avLst>
              <a:gd name="adj" fmla="val 0"/>
            </a:avLst>
          </a:prstGeom>
          <a:solidFill>
            <a:schemeClr val="lt1">
              <a:alpha val="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oogle Shape;11;p2"/>
          <p:cNvGrpSpPr/>
          <p:nvPr/>
        </p:nvGrpSpPr>
        <p:grpSpPr>
          <a:xfrm>
            <a:off x="5760" y="-8280"/>
            <a:ext cx="5138280" cy="5152320"/>
            <a:chOff x="5760" y="-8280"/>
            <a:chExt cx="5138280" cy="5152320"/>
          </a:xfrm>
        </p:grpSpPr>
        <p:sp>
          <p:nvSpPr>
            <p:cNvPr id="4" name="Google Shape;12;p2"/>
            <p:cNvSpPr/>
            <p:nvPr/>
          </p:nvSpPr>
          <p:spPr>
            <a:xfrm rot="16200000">
              <a:off x="360" y="360"/>
              <a:ext cx="5152320" cy="51346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rot="16200000">
              <a:off x="0" y="1142280"/>
              <a:ext cx="3996360" cy="398232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Google Shape;14;p2"/>
            <p:cNvSpPr/>
            <p:nvPr/>
          </p:nvSpPr>
          <p:spPr>
            <a:xfrm rot="16200000">
              <a:off x="1800" y="720"/>
              <a:ext cx="2299320" cy="22914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Google Shape;15;p2"/>
            <p:cNvSpPr/>
            <p:nvPr/>
          </p:nvSpPr>
          <p:spPr>
            <a:xfrm flipH="1">
              <a:off x="652680" y="588240"/>
              <a:ext cx="2299680" cy="22910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7320" cy="157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4DB48A7-D3E4-412E-81A5-71737B559A8C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401800" cy="157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python основы машинного обучения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5083920" y="3925080"/>
            <a:ext cx="3470400" cy="50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ctr">
              <a:buNone/>
            </a:pPr>
            <a:endParaRPr lang="en-US" sz="13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Создание базовых моделей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Scikit-learn (sklearn) — это один из наиболее широко используемых пакетов Python для Data Science и Machine Learning. Он содержит функции и алгоритмы для машинного обучения: классификации, прогнозирования или разбивки данных на группы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Предобработка данных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297440" y="963000"/>
            <a:ext cx="7038720" cy="410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# Заполнение пропущенных значений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imputer = SimpleImputer(strategy='mean')  # также 'median', 'most_frequent', 'constant'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X_imputed = imputer.fit_transform(X)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# Нормализация (диапазон [0, 1])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min_max_scaler = preprocessing.MinMaxScaler()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X_normalized = min_max_scaler.fit_transform(X)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#Преобразование в категориальные параметры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onehot_encoder = preprocessing.OneHotEncoder()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X_encoded = onehot_encoder.fit_transform(X_categorical)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buNone/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Montserrat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X_train, X_test, y_train, y_test = train_test_split(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X, y, test_size=0.33, random_state=42)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Обучение модели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327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#Создаем объект класса модели, Которая нам нужна.Вы можете указать гиперпараметры модели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reg=LinearRegression()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#Обучаем нашу модель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reg.fit(X_train,Y_train)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#Делаем предсказание на массиве данных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pred = reg.predict(X_test)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#Высчитываем точность нашей модели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mean_squared_error(Y_test, pred)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LibreOffice/26.8.1.1$Linux_X86_64 LibreOffice_project/bf6ef2662401c7d6dce671ab4deb26ee0af3a7c1</Application>
  <AppVersion>15.0000</AppVersion>
  <Words>275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2026-10-13T17:16:42Z</dcterms:modified>
  <cp:revision>2</cp:revision>
  <dc:subject/>
  <dc:title>python основы машинного обучения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Экран (16:9)</vt:lpwstr>
  </property>
  <property fmtid="{D5CDD505-2E9C-101B-9397-08002B2CF9AE}" pid="4" name="Slides">
    <vt:i4>6</vt:i4>
  </property>
</Properties>
</file>