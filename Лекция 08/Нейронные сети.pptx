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1.gif" ContentType="image/gi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font" Target="fonts/Font_1_Montserrat_Regular.fntdata"/><Relationship Id="rId20" Type="http://schemas.openxmlformats.org/officeDocument/2006/relationships/font" Target="fonts/Font_2_Montserrat_Bold.fntdata"/><Relationship Id="rId21" Type="http://schemas.openxmlformats.org/officeDocument/2006/relationships/font" Target="fonts/Font_3_Montserrat_Italic.fntdata"/><Relationship Id="rId22" Type="http://schemas.openxmlformats.org/officeDocument/2006/relationships/font" Target="fonts/Font_4_Montserrat_BoldItalic.fntdata"/><Relationship Id="rId23" Type="http://schemas.openxmlformats.org/officeDocument/2006/relationships/font" Target="fonts/Font_5_Lato_Regular.fntdata"/><Relationship Id="rId24" Type="http://schemas.openxmlformats.org/officeDocument/2006/relationships/font" Target="fonts/Font_6_Lato_Bold.fntdata"/><Relationship Id="rId25" Type="http://schemas.openxmlformats.org/officeDocument/2006/relationships/font" Target="fonts/Font_7_Lato_Italic.fntdata"/><Relationship Id="rId26" Type="http://schemas.openxmlformats.org/officeDocument/2006/relationships/font" Target="fonts/Font_8_Lato_BoldItalic.fntdata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981C3A-B121-4051-8F44-6B766F8F845E}" type="slidenum">
              <a:t>&lt;#&gt;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06;p11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4" name="Google Shape;107;p11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08;p11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09;p11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0;p11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1;p11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2;p11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3;p11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4;p11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5;p11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6;p11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17;p11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18;p11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19;p11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0;p11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1;p11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122;p11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Google Shape;123;p11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124;p11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lnSpc>
                <a:spcPct val="100000"/>
              </a:lnSpc>
              <a:buNone/>
              <a:def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en-US" sz="80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65A11E-2C1C-435C-AE65-CDAF096182B8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20;p3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37" name="Google Shape;21;p3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2;p3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3;p3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4;p3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5;p3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6;p3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27;p3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28;p3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29;p3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0;p3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1;p3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2;p3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3;p3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4;p3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5;p3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36;p3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Google Shape;37;p3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Google Shape;38;p3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6EE6BB-A4EF-4E5A-A666-2176C049F144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70;p8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86" name="Google Shape;71;p8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Google Shape;72;p8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Google Shape;73;p8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Google Shape;74;p8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Google Shape;75;p8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76;p8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Google Shape;77;p8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Google Shape;78;p8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79;p8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80;p8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81;p8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82;p8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Google Shape;83;p8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Google Shape;84;p8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85;p8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Google Shape;86;p8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87;p8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88;p8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ECEE76-2FF6-4B3B-BE18-860B9F0D177E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94E986-9368-4E6F-AA2D-E95E27AA796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8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F1F391-151C-4527-82AF-FDD677A2F331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8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44D50E-1E88-4578-A9CC-530684865401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49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68" name="Google Shape;50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Google Shape;51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5074D4-5DF1-4931-8FC3-6AAFB9920B1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57;p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75" name="Google Shape;58;p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Google Shape;59;p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7A754D-F354-4806-8992-EC707AF1C951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3;p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80" name="Google Shape;64;p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65;p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1E4BDD-A8C2-4E6F-84CF-9D20C0B33F95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92;p9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07" name="Google Shape;93;p9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94;p9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E3716B-F23C-4FB2-B830-DF53CD4860F6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00;p10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113" name="Google Shape;101;p10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102;p10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6243AC-C289-4195-8474-64B64D339599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 rot="5400000">
            <a:off x="7500600" y="0"/>
            <a:ext cx="1643400" cy="164340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760" y="-8280"/>
            <a:ext cx="5138280" cy="5152320"/>
            <a:chOff x="5760" y="-8280"/>
            <a:chExt cx="5138280" cy="515232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360" y="360"/>
              <a:ext cx="5152320" cy="5134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0" y="1142280"/>
              <a:ext cx="3996360" cy="398232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16200000">
              <a:off x="1800" y="720"/>
              <a:ext cx="2299320" cy="22914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flipH="1">
              <a:off x="652680" y="588240"/>
              <a:ext cx="2299680" cy="22910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FAC5E2-222A-44AF-B79C-148E1BEC6C9B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Нейронные сети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400" cy="50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buNone/>
            </a:pPr>
            <a:endParaRPr lang="en-US" sz="13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Определение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8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Нейронная сеть  — это математическая модель, а также её программное или аппаратное воплощение, созданная по образцу структуры и функционирования человеческого мозга. Её основная цель — обработка информации и выявление в ней сложных закономерностей и взаимосвязей.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3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pic>
        <p:nvPicPr>
          <p:cNvPr id="123" name="Google Shape;148;p15"/>
          <p:cNvPicPr/>
          <p:nvPr/>
        </p:nvPicPr>
        <p:blipFill>
          <a:blip r:embed="rId1"/>
          <a:stretch/>
        </p:blipFill>
        <p:spPr>
          <a:xfrm>
            <a:off x="1416960" y="1245960"/>
            <a:ext cx="6309360" cy="355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основные термины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Нейроны (Узлы):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Это базовые вычислительные единицы сети. Они получают входные данные, производят над ними простые операции и передают результат дальше.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Входные нейроны: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Получают входные данные.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Скрытые нейроны: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Находятся между входом и выходом, выполняют основную работу по анализу и преобразованию данных. Их может быть много слоёв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Выходные нейроны: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Выдают окончательный результат работы сети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Связи и Веса: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Каждый нейрон связан с множеством других нейронов. Каждой связи присвоен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«вес»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(weight) — это числовой коэффициент, который определяет силу и важность связи. Именно в весах «хранятся знания» сети, полученные в процессе обучения.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Функция активации: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Это функция, которая решает, «активировать» ли нейрон (т.е. передавать ли сигнал дальше) на основе суммы взвешенных входов. Она добавляет нейронной сети нелинейность, позволяя ей обучаться и моделировать чрезвычайно сложные зависимости.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Процесс обучения: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Это самый важный этап. Нейронная сеть не программируется вручную, а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обучается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на большом количестве примеров (данных).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Сети на вход подаются данные 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Сначала она делает случайные предположения 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Её результат сравнивается с правильным ответом, и вычисляется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ошибка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 помощью алгоритма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обратного распространения ошибки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 эта ошибка проходит по сети назад, и веса всех связей немного корректируются чтобы в следующий раз ошибка была меньше.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Этот процесс повторяется тысячи и миллионы раз, пока модель не научится давать точные ответы.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Отличие от ранее пройденных алгоритмов машинного обучения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83480" y="1567440"/>
            <a:ext cx="311508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167;p18"/>
          <p:cNvPicPr/>
          <p:nvPr/>
        </p:nvPicPr>
        <p:blipFill>
          <a:blip r:embed="rId1"/>
          <a:stretch/>
        </p:blipFill>
        <p:spPr>
          <a:xfrm>
            <a:off x="3903480" y="1567440"/>
            <a:ext cx="4996080" cy="291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351080" y="204876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Виды нейронных сетей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ru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Полносвязные нейронные сети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Ключевой принцип:</a:t>
            </a:r>
            <a:r>
              <a:rPr lang="ru" sz="1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Это самый базовый тип искусственных нейронных сетей. Каждый нейрон в одном слое соединен с </a:t>
            </a:r>
            <a:r>
              <a:rPr lang="ru" sz="1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каждым</a:t>
            </a:r>
            <a:r>
              <a:rPr lang="ru" sz="1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нейроном в следующем слое. Из-за этой структуры их также часто называют </a:t>
            </a:r>
            <a:r>
              <a:rPr lang="ru" sz="1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многослойные перцептроны (MLP)</a:t>
            </a:r>
            <a:r>
              <a:rPr lang="ru" sz="1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Данные поступают на входной слой, затем последовательно проходят через скрытые слои, где каждый слой учится выделять все более сложные закономерности. Каждое соединение имеет свой "вес", который корректируется в процессе обучения.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4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ru" sz="152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Свёрточные нейронные сети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297440" y="837720"/>
            <a:ext cx="7038720" cy="4168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Ключевой принцип: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Специализированные сети для обработки данных с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пространственной структурой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(изображения, видео). Их главная идея — использование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сверточных слоев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и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пулинга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Times New Roman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Как работают: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15000"/>
              </a:lnSpc>
              <a:buClr>
                <a:srgbClr val="FFFFFF"/>
              </a:buClr>
              <a:buFont typeface="Arial"/>
              <a:buChar char="○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Свертка: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Слой использует набор "фильтров" (или "ядер"), которые "скользят" по входному изображению. Каждый фильтр учится распознавать определенные простые паттерны: края, углы, текстуры. Последующие слои комбинируют эти паттерны в более сложные: глаза, нос, а затем и целые лица.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15000"/>
              </a:lnSpc>
              <a:buClr>
                <a:srgbClr val="FFFFFF"/>
              </a:buClr>
              <a:buFont typeface="Arial"/>
              <a:buChar char="○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Пулинг (Subsampling):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Слой (например, Max Pooling), который уменьшает размерность карты признаков, оставляя только самые важные признаки. Это повышает вычислительную эффективность и обеспечивает инвариантность к небольшим смещениям объекта.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Главное применение: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Times New Roman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Распознавание и классификация изображений и видео.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Обнаружение объектов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(например, беспилотные автомобили).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Обработка медицинских снимков.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Стилизация изображений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(Neural Style Transfer).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ru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Рекуррентные нейронные сети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Ключевой принцип: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Сети, предназначенные для работы с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последовательностями данных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, где порядок имеет значение (время, текст). Их главная особенность —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"память"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— они имеют внутреннюю петлю, позволяющую передавать информацию от одного шага последовательности к другому.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Как работают: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RNN обрабатывает элементы последовательности по одному, обновляя свое </a:t>
            </a: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скрытое состояние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— вектор, который содержит информацию о всех предыдущих элементах последовательности. Решение на каждом шаге принимается на основе текущего входа и этой "памяти".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Главное применение: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Обработка естественного языка (NLP):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машинный перевод, генерация текста.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Прогнозирование временных рядов</a:t>
            </a:r>
            <a:r>
              <a:rPr lang="ru" sz="12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(курсы акций, погода).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 algn="l">
              <a:lnSpc>
                <a:spcPct val="115000"/>
              </a:lnSpc>
              <a:buClr>
                <a:srgbClr val="FFFFFF"/>
              </a:buClr>
              <a:buFont typeface="Times New Roman"/>
              <a:buChar char="●"/>
              <a:tabLst>
                <a:tab pos="0" algn="l"/>
              </a:tabLst>
            </a:pPr>
            <a:r>
              <a:rPr lang="ru" sz="12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Распознавание речи.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ru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Трансформеры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Ключевой принцип: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Архитектура, которая произвела революцию в NLP и других областях. Ее главное нововведение —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механизм внимания (Attention Mechanism)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, и особенно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самовнимания (Self-Attention)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, который позволяет модели напрямую находить связи между любыми элементами последовательности, независимо от расстояния между ними.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Как работают: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Self-Attention: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Для каждого элемента входной последовательности (например, слова) модель вычисляет "внимание" ко всем остальным элементам. Это позволяет ей напрямую связать, например, местоимение "он" с именем человека в начале длинного предложения, минуя проблему исчезающего градиента.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Параллелизация: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В отличие от RNN, которые обрабатывают последовательность пошагово, механизм внимания обрабатывает все элементы последовательности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одновременно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. Это кардинально ускоряет обучение.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pos="0" algn="l"/>
              </a:tabLst>
            </a:pP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Архитектура: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Состоит из стека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кодировщиков (encoders)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ru" sz="11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декодировщиков (decoders)</a:t>
            </a: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, каждый из которых содержит слои самовнимания и полносвязные сети.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LLM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Большая языковая модель — это тип модели глубокого обучения, которая понимает и генерирует текст на человеческом языке. Эти модели обучаются на огромных объемах текстовых данных (книги, статьи, сайты и др. источники) и содержат в себе большое число параметров.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Главные понятия: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Предобучение: начальная фаза, где модель обучается на больших наборах данных и решает общие задачи (например, предсказывает следующее слово), чтобы понять структуру языка.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Дообучение (fine-tuning): процесс дополнительного обучения модели на более узком наборе данных для выполнения конкретной задачи, например, классификации или составления списков.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Токен — базовая единица, которую использует модель для работы с текстом.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3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pic>
        <p:nvPicPr>
          <p:cNvPr id="144" name="Google Shape;209;p25"/>
          <p:cNvPicPr/>
          <p:nvPr/>
        </p:nvPicPr>
        <p:blipFill>
          <a:blip r:embed="rId1"/>
          <a:stretch/>
        </p:blipFill>
        <p:spPr>
          <a:xfrm>
            <a:off x="1886400" y="841680"/>
            <a:ext cx="5860440" cy="345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Процесс обучения LLM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marL="457200" indent="-328320" algn="l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AutoNum type="arabicPeriod"/>
            </a:pPr>
            <a:r>
              <a:rPr lang="ru" sz="17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Предобучение </a:t>
            </a:r>
            <a:r>
              <a:rPr lang="ru" sz="17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— Фундаментальное изучение языка, модель получает понимание о связях между словами, структуре предложения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8320" algn="l">
              <a:lnSpc>
                <a:spcPct val="115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" sz="17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Обучение с учителем (Supervised Fine-Tuning, SFT)</a:t>
            </a:r>
            <a:r>
              <a:rPr lang="ru" sz="17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— Обучение следованию инструкциям, создаются конкретные запросы и правильные ответы на них, в результате обучения модель становится ближе к эталону  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8320" algn="l">
              <a:lnSpc>
                <a:spcPct val="115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" sz="17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Обучение с подкреплением </a:t>
            </a:r>
            <a:r>
              <a:rPr lang="ru" sz="17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 — Выравнивание под предпочтения человека, модель генерирует несколько ответов на один/похожие запрос и ответ, который ближе к цели помечается как корректный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LibreOffice/26.8.1.1$Linux_X86_64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2026-10-15T18:59:17Z</dcterms:modified>
  <cp:revision>1</cp:revision>
  <dc:subject/>
  <dc:title/>
</cp:coreProperties>
</file>